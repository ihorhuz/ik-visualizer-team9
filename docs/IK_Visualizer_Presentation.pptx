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917AF-BE3B-1BFA-7802-334D37477C4C}" v="14" dt="2026-04-10T21:08:25.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A01D7ED-05F1-453F-8FC9-7E988619D81A}" type="datetimeFigureOut">
              <a:t>4/13/2026</a:t>
            </a:fld>
            <a:endParaRPr lang="en-GB"/>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F95E6EA7-4250-47D3-8748-45A69751203E}" type="slidenum">
              <a:t>‹#›</a:t>
            </a:fld>
            <a:endParaRPr lang="en-GB"/>
          </a:p>
        </p:txBody>
      </p:sp>
    </p:spTree>
    <p:extLst>
      <p:ext uri="{BB962C8B-B14F-4D97-AF65-F5344CB8AC3E}">
        <p14:creationId xmlns:p14="http://schemas.microsoft.com/office/powerpoint/2010/main" val="2219056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 present our project: an Interactive Inverse Kinematics Algorithms Visualizer. This is an educational sandbox that lets users see, feel, and understand how robotic arms find their way to a target — a problem that sounds simple on the surface but hides deep mathematics. We'll walk you through why we built it, who needs it, and how it works. Let's begin.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today. We'll spend significant time in the first two phases covering the grading rubric points: research, stakeholders, user problems, and the final problem determination. Then we'll move into the math and algorithms before presenting our solution.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began with the fundamental question: what exactly is Inverse Kinematics, and why is it hard? Forward Kinematics is the 'easy' direction — given the joint angles, you simply multiply transformation matrices along the chain to find where the tip ends up. Inverse Kinematics flips this question: given where we WANT the tip to be, what angles do we need? This is computationally expensive because the solution space is non-linear, solutions may not exist, and multiple solutions often exist. IK powers everything from KUKA robots in car factories to character animation in video games.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revealed six core reasons IK is genuinely difficult. First, the math is non-linear — joint angles interact multiplicatively, not additively. Second, multiple solutions exist for any reachable target. Third, singularities are dangerous edge cases where algorithms break down. Fourth, closed-form solutions don't scale beyond simple 3-joint systems. Fifth, real joints have physical limits that must be respected. And sixth, performance is critical — games and robots need this solved every frame. These challenges justify the need for educational tooling.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four main stakeholder groups. First and most important: students in robotics, CS, and engineering courses who are learning IK for the first time. Second: educators who need a live, interactive demo rather than static diagrams in slides. Third: game and animation developers who need to choose between algorithms like FABRIK and CCD based on their specific use case. Fourth: early-stage researchers who need a fast visual sandbox to test new ideas. Each group has different needs — but all share the core problem that IK is hard to understand without visualization.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get specific about the pain points each stakeholder experiences. Students encounter IK as pure equations with no intuition — they can't see WHY the arm moves the way it does, and singularities are completely invisible. Educators lack an interactive demo tool — every existing resource requires coding setup before you can see anything. Developers struggle to predict algorithm behavior at the edges — joint limits, singularities, and non-planar chains all create invisible bugs that are nearly impossible to debug from log files alone. These are the specific problems our visualizer solves.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problem statement we arrived at after research. There is no tool that combines visual transparency, algorithm comparability, and direct manipulation in one accessible package. The threefold solution required is: making algorithms visible — showing the arm's path to convergence; making algorithms comparable — instant switching between methods; and making the tool interactive — direct joint dragging and pinning so users build intuition by doing, not just watching. This is our north star for the entire project.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Kinematics is the tool every IK algorithm calls to verify its answer. Given the joint angles, we compose rotation and translation matrices from the base outward to compute the end-effector position. In 2D, each joint applies a 2x2 rotation matrix and translates by the link length. The full FK is a chain of matrix products. FK is always the 'forward pass' — cheap, deterministic, and used by every IK solver to check convergence.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Jacobian is the mathematical engine behind all gradient-based IK methods. It's a matrix that maps how fast each joint rotates to how fast the end-effector moves. To invert IK, we invert this relationship — but that only works when the Jacobian is full rank. At singularities, the determinant of J goes to zero, meaning the robot loses the ability to move in certain directions. This is one of the most visually striking phenomena our tool demonstrates — you can see the arm 'freeze up' or jerk violently at singularities, and then observe how DLS prevents the blow-up.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implement three Jacobian-based methods. The Jacobian Transpose is the simplest — no matrix inversion, just multiply by the transpose. It always converges but oscillates. The Moore-Penrose Pseudoinverse gives the minimum-norm velocity solution via least squares but breaks down at singularities. Damped Least Squares is the industry standard — it adds a small damping term lambda-squared-I to the denominator, trading a tiny bit of accuracy for rock-solid stability even at singular configurations. Our visualizer shows all three simultaneously or lets users switch on the fly.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two heuristic algorithms are FABRIK and CCD. FABRIK is exceptional — it operates on vectors, not trig, and converges in very few iterations. Our fabrik.py is already written and implements the exact backward-forward cycle described here. CCD is more intuitive to animate because you can watch each joint independently rotating toward the target, one at a time. While CCD needs more iterations, it's perfect for educational demonstrations because the step-through animation is crystal clear. Both algorithms are already better understood with visualization than with any textbook description.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has four clean modules. The Kinematic Chain Model owns all data — joint angles, link lengths — and provides the forward kinematics computation. The Algorithm Engine is the pure math solver — it takes the arm's current state and a target and iterates until convergence. The Renderer reads from the model and draws everything. The UI handles all human input. Critically, these modules communicate in one direction: UI drives the engine, engine drives the model, renderer reads the model. This separation means you can swap any algorithm without touching the renderer or UI.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Python for its unmatched combination of readability, mathematical expressiveness with NumPy, and rapid prototyping speed. For scope, we're starting with 2D for several important reasons: 2D eliminates 3D-specific complexity like gimbal lock and quaternions, it's easier to visualize on a flat screen with no camera controls needed, and it lets us perfect all algorithm implementations before adding the 3D rendering layer. The full algorithm suite — Jacobian methods, FABRIK, CCD — all work identically in 3D once the math is solid in 2D. 3D is a stretch goal.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features are what make this a genuine interactive sandbox rather than just a passive animation. Joint dragging is the most powerful — it lets users physically grab any part of the arm and watch the whole chain respond. Joint pinning simulates real-world robot constraints and teaches students that IK must sometimes work around fixed degrees of freedom. Algorithm switching on a live arm is uniquely educational — you can see FABRIK reach the target in 5 iterations while CCD takes 20. The step-through mode is especially valuable for educators: advance one iteration at a time and narrate exactly what the algorithm is doing.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we've established through research that IK is genuinely hard to learn without visualization. We've identified four stakeholder groups and their specific pain points. We've determined the three-part problem to solve — visibility, comparability, and interactivity. Our architecture is clean, modular, and already partially implemented with fabrik.py. The features that differentiate us — mid-chain dragging and joint pinning — go well beyond any existing tool. Our next step is integrating all four modules and building the renderer and UI layer. Thank you —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F97316"/>
          </a:solidFill>
          <a:ln w="12700">
            <a:solidFill>
              <a:srgbClr val="F97316"/>
            </a:solidFill>
            <a:prstDash val="solid"/>
          </a:ln>
        </p:spPr>
      </p:sp>
      <p:pic>
        <p:nvPicPr>
          <p:cNvPr id="3" name="Image 0" descr="/home/claude/robot_real.jpg"/>
          <p:cNvPicPr>
            <a:picLocks noChangeAspect="1"/>
          </p:cNvPicPr>
          <p:nvPr/>
        </p:nvPicPr>
        <p:blipFill>
          <a:blip r:embed="rId3">
            <a:alphaModFix amt="80000"/>
          </a:blip>
          <a:srcRect/>
          <a:stretch/>
        </p:blipFill>
        <p:spPr>
          <a:xfrm>
            <a:off x="5303520" y="0"/>
            <a:ext cx="3840480" cy="5143500"/>
          </a:xfrm>
          <a:prstGeom prst="rect">
            <a:avLst/>
          </a:prstGeom>
        </p:spPr>
      </p:pic>
      <p:sp>
        <p:nvSpPr>
          <p:cNvPr id="4" name="Shape 1"/>
          <p:cNvSpPr/>
          <p:nvPr/>
        </p:nvSpPr>
        <p:spPr>
          <a:xfrm>
            <a:off x="5303520" y="0"/>
            <a:ext cx="3840480" cy="5143500"/>
          </a:xfrm>
          <a:prstGeom prst="rect">
            <a:avLst/>
          </a:prstGeom>
          <a:solidFill>
            <a:srgbClr val="0D0F1A">
              <a:alpha val="70000"/>
            </a:srgbClr>
          </a:solidFill>
          <a:ln w="12700">
            <a:solidFill>
              <a:srgbClr val="0D0F1A"/>
            </a:solidFill>
            <a:prstDash val="solid"/>
          </a:ln>
        </p:spPr>
      </p:sp>
      <p:sp>
        <p:nvSpPr>
          <p:cNvPr id="5" name="Text 2"/>
          <p:cNvSpPr/>
          <p:nvPr/>
        </p:nvSpPr>
        <p:spPr>
          <a:xfrm>
            <a:off x="640080" y="914400"/>
            <a:ext cx="5029200" cy="777240"/>
          </a:xfrm>
          <a:prstGeom prst="rect">
            <a:avLst/>
          </a:prstGeom>
          <a:noFill/>
          <a:ln/>
        </p:spPr>
        <p:txBody>
          <a:bodyPr wrap="square" lIns="0" tIns="0" rIns="0" bIns="0" rtlCol="0" anchor="ctr"/>
          <a:lstStyle/>
          <a:p>
            <a:pPr marL="0" indent="0">
              <a:buNone/>
            </a:pPr>
            <a:r>
              <a:rPr lang="en-US" sz="4400" b="1" dirty="0">
                <a:solidFill>
                  <a:srgbClr val="FFFFFF"/>
                </a:solidFill>
                <a:latin typeface="Trebuchet MS" pitchFamily="34" charset="0"/>
                <a:ea typeface="Trebuchet MS" pitchFamily="34" charset="-122"/>
                <a:cs typeface="Trebuchet MS" pitchFamily="34" charset="-120"/>
              </a:rPr>
              <a:t>Interactive IK</a:t>
            </a:r>
          </a:p>
          <a:p>
            <a:r>
              <a:rPr lang="en-US" sz="4400" b="1">
                <a:solidFill>
                  <a:srgbClr val="F97316"/>
                </a:solidFill>
                <a:latin typeface="Trebuchet MS" pitchFamily="34" charset="0"/>
              </a:rPr>
              <a:t>Algorithms</a:t>
            </a:r>
            <a:endParaRPr lang="en-US" sz="4400">
              <a:solidFill>
                <a:srgbClr val="FFFFFF"/>
              </a:solidFill>
              <a:latin typeface="Trebuchet MS" pitchFamily="34" charset="0"/>
            </a:endParaRPr>
          </a:p>
          <a:p>
            <a:r>
              <a:rPr lang="en-US" sz="4400" b="1">
                <a:solidFill>
                  <a:srgbClr val="F97316"/>
                </a:solidFill>
                <a:latin typeface="Trebuchet MS" pitchFamily="34" charset="0"/>
              </a:rPr>
              <a:t>Visualizer</a:t>
            </a:r>
            <a:endParaRPr lang="en-US"/>
          </a:p>
        </p:txBody>
      </p:sp>
      <p:sp>
        <p:nvSpPr>
          <p:cNvPr id="6" name="Text 3"/>
          <p:cNvSpPr/>
          <p:nvPr/>
        </p:nvSpPr>
        <p:spPr>
          <a:xfrm>
            <a:off x="640080" y="1691640"/>
            <a:ext cx="5029200" cy="777240"/>
          </a:xfrm>
          <a:prstGeom prst="rect">
            <a:avLst/>
          </a:prstGeom>
          <a:noFill/>
          <a:ln/>
        </p:spPr>
        <p:txBody>
          <a:bodyPr wrap="square" lIns="0" tIns="0" rIns="0" bIns="0" rtlCol="0" anchor="ctr"/>
          <a:lstStyle/>
          <a:p>
            <a:endParaRPr lang="en-US" sz="4400" b="1" dirty="0">
              <a:solidFill>
                <a:srgbClr val="F97316"/>
              </a:solidFill>
              <a:latin typeface="Trebuchet MS"/>
              <a:ea typeface="Calibri"/>
              <a:cs typeface="Calibri"/>
            </a:endParaRPr>
          </a:p>
        </p:txBody>
      </p:sp>
      <p:sp>
        <p:nvSpPr>
          <p:cNvPr id="7" name="Text 4"/>
          <p:cNvSpPr/>
          <p:nvPr/>
        </p:nvSpPr>
        <p:spPr>
          <a:xfrm>
            <a:off x="640080" y="2606040"/>
            <a:ext cx="4754880" cy="685800"/>
          </a:xfrm>
          <a:prstGeom prst="rect">
            <a:avLst/>
          </a:prstGeom>
          <a:noFill/>
          <a:ln/>
        </p:spPr>
        <p:txBody>
          <a:bodyPr wrap="square" lIns="0" tIns="0" rIns="0" bIns="0" rtlCol="0" anchor="ctr"/>
          <a:lstStyle/>
          <a:p>
            <a:pPr marL="0" indent="0">
              <a:buNone/>
            </a:pPr>
            <a:r>
              <a:rPr lang="en-US" sz="1400" dirty="0">
                <a:solidFill>
                  <a:srgbClr val="CBD5E1"/>
                </a:solidFill>
                <a:latin typeface="Trebuchet MS" pitchFamily="34" charset="0"/>
                <a:ea typeface="Trebuchet MS" pitchFamily="34" charset="-122"/>
                <a:cs typeface="Trebuchet MS" pitchFamily="34" charset="-120"/>
              </a:rPr>
              <a:t>An Educational, Interactive Sandbox for</a:t>
            </a:r>
            <a:endParaRPr lang="en-US" sz="1400" dirty="0"/>
          </a:p>
          <a:p>
            <a:pPr marL="0" indent="0">
              <a:buNone/>
            </a:pPr>
            <a:r>
              <a:rPr lang="en-US" sz="1400" dirty="0">
                <a:solidFill>
                  <a:srgbClr val="CBD5E1"/>
                </a:solidFill>
                <a:latin typeface="Trebuchet MS" pitchFamily="34" charset="0"/>
                <a:ea typeface="Trebuchet MS" pitchFamily="34" charset="-122"/>
                <a:cs typeface="Trebuchet MS" pitchFamily="34" charset="-120"/>
              </a:rPr>
              <a:t>Robotic Arm Inverse Kinematics</a:t>
            </a:r>
            <a:endParaRPr lang="en-US" sz="1400" dirty="0"/>
          </a:p>
        </p:txBody>
      </p:sp>
      <p:sp>
        <p:nvSpPr>
          <p:cNvPr id="8" name="Shape 5"/>
          <p:cNvSpPr/>
          <p:nvPr/>
        </p:nvSpPr>
        <p:spPr>
          <a:xfrm>
            <a:off x="640080" y="3383280"/>
            <a:ext cx="3200400" cy="13716"/>
          </a:xfrm>
          <a:prstGeom prst="rect">
            <a:avLst/>
          </a:prstGeom>
          <a:solidFill>
            <a:srgbClr val="1E293B"/>
          </a:solidFill>
          <a:ln w="12700">
            <a:solidFill>
              <a:srgbClr val="1E293B"/>
            </a:solidFill>
            <a:prstDash val="solid"/>
          </a:ln>
        </p:spPr>
      </p:sp>
      <p:sp>
        <p:nvSpPr>
          <p:cNvPr id="9" name="Text 6"/>
          <p:cNvSpPr/>
          <p:nvPr/>
        </p:nvSpPr>
        <p:spPr>
          <a:xfrm>
            <a:off x="640080" y="3520440"/>
            <a:ext cx="5029200" cy="256032"/>
          </a:xfrm>
          <a:prstGeom prst="rect">
            <a:avLst/>
          </a:prstGeom>
          <a:noFill/>
          <a:ln/>
        </p:spPr>
        <p:txBody>
          <a:bodyPr wrap="square" lIns="0" tIns="0" rIns="0" bIns="0" rtlCol="0" anchor="ctr"/>
          <a:lstStyle/>
          <a:p>
            <a:pPr marL="0" indent="0">
              <a:buNone/>
            </a:pPr>
            <a:r>
              <a:rPr lang="en-US" sz="1100" kern="0" spc="100" dirty="0">
                <a:solidFill>
                  <a:srgbClr val="F97316"/>
                </a:solidFill>
                <a:latin typeface="Trebuchet MS" pitchFamily="34" charset="0"/>
                <a:ea typeface="Trebuchet MS" pitchFamily="34" charset="-122"/>
                <a:cs typeface="Trebuchet MS" pitchFamily="34" charset="-120"/>
              </a:rPr>
              <a:t>Phase 1: Introduction &amp; Problem Definition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7316"/>
          </a:solidFill>
          <a:ln w="12700">
            <a:solidFill>
              <a:srgbClr val="F9731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Presentation Roadmap</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WHAT WE'LL COVER TODAY</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320040" y="1261872"/>
            <a:ext cx="4206240" cy="960120"/>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7" name="Shape 5"/>
          <p:cNvSpPr/>
          <p:nvPr/>
        </p:nvSpPr>
        <p:spPr>
          <a:xfrm>
            <a:off x="320040" y="1261872"/>
            <a:ext cx="566928" cy="960120"/>
          </a:xfrm>
          <a:prstGeom prst="rect">
            <a:avLst/>
          </a:prstGeom>
          <a:solidFill>
            <a:srgbClr val="F97316"/>
          </a:solidFill>
          <a:ln w="12700">
            <a:solidFill>
              <a:srgbClr val="F97316"/>
            </a:solidFill>
            <a:prstDash val="solid"/>
          </a:ln>
        </p:spPr>
      </p:sp>
      <p:sp>
        <p:nvSpPr>
          <p:cNvPr id="8" name="Text 6"/>
          <p:cNvSpPr/>
          <p:nvPr/>
        </p:nvSpPr>
        <p:spPr>
          <a:xfrm>
            <a:off x="320040" y="1261872"/>
            <a:ext cx="566928"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01</a:t>
            </a:r>
            <a:endParaRPr lang="en-US" sz="1800" dirty="0"/>
          </a:p>
        </p:txBody>
      </p:sp>
      <p:sp>
        <p:nvSpPr>
          <p:cNvPr id="9" name="Text 7"/>
          <p:cNvSpPr/>
          <p:nvPr/>
        </p:nvSpPr>
        <p:spPr>
          <a:xfrm>
            <a:off x="978408" y="1335024"/>
            <a:ext cx="3456432" cy="804672"/>
          </a:xfrm>
          <a:prstGeom prst="rect">
            <a:avLst/>
          </a:prstGeom>
          <a:noFill/>
          <a:ln/>
        </p:spPr>
        <p:txBody>
          <a:bodyPr wrap="square" lIns="0" tIns="0" rIns="0" bIns="0" rtlCol="0" anchor="ctr"/>
          <a:lstStyle/>
          <a:p>
            <a:pPr marL="0" indent="0">
              <a:buNone/>
            </a:pPr>
            <a:r>
              <a:rPr lang="en-US" sz="1300" dirty="0">
                <a:solidFill>
                  <a:srgbClr val="CBD5E1"/>
                </a:solidFill>
                <a:latin typeface="Trebuchet MS" pitchFamily="34" charset="0"/>
                <a:ea typeface="Trebuchet MS" pitchFamily="34" charset="-122"/>
                <a:cs typeface="Trebuchet MS" pitchFamily="34" charset="-120"/>
              </a:rPr>
              <a:t>Introduction &amp; Problem Research</a:t>
            </a:r>
            <a:endParaRPr lang="en-US" sz="1300" dirty="0"/>
          </a:p>
        </p:txBody>
      </p:sp>
      <p:sp>
        <p:nvSpPr>
          <p:cNvPr id="10" name="Shape 8"/>
          <p:cNvSpPr/>
          <p:nvPr/>
        </p:nvSpPr>
        <p:spPr>
          <a:xfrm>
            <a:off x="320040" y="2432304"/>
            <a:ext cx="4206240" cy="960120"/>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11" name="Shape 9"/>
          <p:cNvSpPr/>
          <p:nvPr/>
        </p:nvSpPr>
        <p:spPr>
          <a:xfrm>
            <a:off x="320040" y="2432304"/>
            <a:ext cx="566928" cy="960120"/>
          </a:xfrm>
          <a:prstGeom prst="rect">
            <a:avLst/>
          </a:prstGeom>
          <a:solidFill>
            <a:srgbClr val="F97316"/>
          </a:solidFill>
          <a:ln w="12700">
            <a:solidFill>
              <a:srgbClr val="F97316"/>
            </a:solidFill>
            <a:prstDash val="solid"/>
          </a:ln>
        </p:spPr>
      </p:sp>
      <p:sp>
        <p:nvSpPr>
          <p:cNvPr id="12" name="Text 10"/>
          <p:cNvSpPr/>
          <p:nvPr/>
        </p:nvSpPr>
        <p:spPr>
          <a:xfrm>
            <a:off x="320040" y="2432304"/>
            <a:ext cx="566928"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02</a:t>
            </a:r>
            <a:endParaRPr lang="en-US" sz="1800" dirty="0"/>
          </a:p>
        </p:txBody>
      </p:sp>
      <p:sp>
        <p:nvSpPr>
          <p:cNvPr id="13" name="Text 11"/>
          <p:cNvSpPr/>
          <p:nvPr/>
        </p:nvSpPr>
        <p:spPr>
          <a:xfrm>
            <a:off x="978408" y="2505456"/>
            <a:ext cx="3456432" cy="804672"/>
          </a:xfrm>
          <a:prstGeom prst="rect">
            <a:avLst/>
          </a:prstGeom>
          <a:noFill/>
          <a:ln/>
        </p:spPr>
        <p:txBody>
          <a:bodyPr wrap="square" lIns="0" tIns="0" rIns="0" bIns="0" rtlCol="0" anchor="ctr"/>
          <a:lstStyle/>
          <a:p>
            <a:pPr marL="0" indent="0">
              <a:buNone/>
            </a:pPr>
            <a:r>
              <a:rPr lang="en-US" sz="1300" dirty="0">
                <a:solidFill>
                  <a:srgbClr val="CBD5E1"/>
                </a:solidFill>
                <a:latin typeface="Trebuchet MS" pitchFamily="34" charset="0"/>
                <a:ea typeface="Trebuchet MS" pitchFamily="34" charset="-122"/>
                <a:cs typeface="Trebuchet MS" pitchFamily="34" charset="-120"/>
              </a:rPr>
              <a:t>Stakeholders &amp; User Problems</a:t>
            </a:r>
            <a:endParaRPr lang="en-US" sz="1300" dirty="0"/>
          </a:p>
        </p:txBody>
      </p:sp>
      <p:sp>
        <p:nvSpPr>
          <p:cNvPr id="14" name="Shape 12"/>
          <p:cNvSpPr/>
          <p:nvPr/>
        </p:nvSpPr>
        <p:spPr>
          <a:xfrm>
            <a:off x="320040" y="3602736"/>
            <a:ext cx="4206240" cy="960120"/>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15" name="Shape 13"/>
          <p:cNvSpPr/>
          <p:nvPr/>
        </p:nvSpPr>
        <p:spPr>
          <a:xfrm>
            <a:off x="320040" y="3602736"/>
            <a:ext cx="566928" cy="960120"/>
          </a:xfrm>
          <a:prstGeom prst="rect">
            <a:avLst/>
          </a:prstGeom>
          <a:solidFill>
            <a:srgbClr val="3B82F6"/>
          </a:solidFill>
          <a:ln w="12700">
            <a:solidFill>
              <a:srgbClr val="3B82F6"/>
            </a:solidFill>
            <a:prstDash val="solid"/>
          </a:ln>
        </p:spPr>
      </p:sp>
      <p:sp>
        <p:nvSpPr>
          <p:cNvPr id="16" name="Text 14"/>
          <p:cNvSpPr/>
          <p:nvPr/>
        </p:nvSpPr>
        <p:spPr>
          <a:xfrm>
            <a:off x="320040" y="3602736"/>
            <a:ext cx="566928"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03</a:t>
            </a:r>
            <a:endParaRPr lang="en-US" sz="1800" dirty="0"/>
          </a:p>
        </p:txBody>
      </p:sp>
      <p:sp>
        <p:nvSpPr>
          <p:cNvPr id="17" name="Text 15"/>
          <p:cNvSpPr/>
          <p:nvPr/>
        </p:nvSpPr>
        <p:spPr>
          <a:xfrm>
            <a:off x="978408" y="3675888"/>
            <a:ext cx="3456432" cy="804672"/>
          </a:xfrm>
          <a:prstGeom prst="rect">
            <a:avLst/>
          </a:prstGeom>
          <a:noFill/>
          <a:ln/>
        </p:spPr>
        <p:txBody>
          <a:bodyPr wrap="square" lIns="0" tIns="0" rIns="0" bIns="0" rtlCol="0" anchor="ctr"/>
          <a:lstStyle/>
          <a:p>
            <a:pPr marL="0" indent="0">
              <a:buNone/>
            </a:pPr>
            <a:r>
              <a:rPr lang="en-US" sz="1300" dirty="0">
                <a:solidFill>
                  <a:srgbClr val="CBD5E1"/>
                </a:solidFill>
                <a:latin typeface="Trebuchet MS" pitchFamily="34" charset="0"/>
                <a:ea typeface="Trebuchet MS" pitchFamily="34" charset="-122"/>
                <a:cs typeface="Trebuchet MS" pitchFamily="34" charset="-120"/>
              </a:rPr>
              <a:t>Theoretical Background &amp; Math</a:t>
            </a:r>
            <a:endParaRPr lang="en-US" sz="1300" dirty="0"/>
          </a:p>
        </p:txBody>
      </p:sp>
      <p:sp>
        <p:nvSpPr>
          <p:cNvPr id="18" name="Shape 16"/>
          <p:cNvSpPr/>
          <p:nvPr/>
        </p:nvSpPr>
        <p:spPr>
          <a:xfrm>
            <a:off x="4754880" y="1261872"/>
            <a:ext cx="4206240" cy="960120"/>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19" name="Shape 17"/>
          <p:cNvSpPr/>
          <p:nvPr/>
        </p:nvSpPr>
        <p:spPr>
          <a:xfrm>
            <a:off x="4754880" y="1261872"/>
            <a:ext cx="566928" cy="960120"/>
          </a:xfrm>
          <a:prstGeom prst="rect">
            <a:avLst/>
          </a:prstGeom>
          <a:solidFill>
            <a:srgbClr val="3B82F6"/>
          </a:solidFill>
          <a:ln w="12700">
            <a:solidFill>
              <a:srgbClr val="3B82F6"/>
            </a:solidFill>
            <a:prstDash val="solid"/>
          </a:ln>
        </p:spPr>
      </p:sp>
      <p:sp>
        <p:nvSpPr>
          <p:cNvPr id="20" name="Text 18"/>
          <p:cNvSpPr/>
          <p:nvPr/>
        </p:nvSpPr>
        <p:spPr>
          <a:xfrm>
            <a:off x="4754880" y="1261872"/>
            <a:ext cx="566928"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04</a:t>
            </a:r>
            <a:endParaRPr lang="en-US" sz="1800" dirty="0"/>
          </a:p>
        </p:txBody>
      </p:sp>
      <p:sp>
        <p:nvSpPr>
          <p:cNvPr id="21" name="Text 19"/>
          <p:cNvSpPr/>
          <p:nvPr/>
        </p:nvSpPr>
        <p:spPr>
          <a:xfrm>
            <a:off x="5413248" y="1335024"/>
            <a:ext cx="3456432" cy="804672"/>
          </a:xfrm>
          <a:prstGeom prst="rect">
            <a:avLst/>
          </a:prstGeom>
          <a:noFill/>
          <a:ln/>
        </p:spPr>
        <p:txBody>
          <a:bodyPr wrap="square" lIns="0" tIns="0" rIns="0" bIns="0" rtlCol="0" anchor="ctr"/>
          <a:lstStyle/>
          <a:p>
            <a:pPr marL="0" indent="0">
              <a:buNone/>
            </a:pPr>
            <a:r>
              <a:rPr lang="en-US" sz="1300" dirty="0">
                <a:solidFill>
                  <a:srgbClr val="CBD5E1"/>
                </a:solidFill>
                <a:latin typeface="Trebuchet MS" pitchFamily="34" charset="0"/>
                <a:ea typeface="Trebuchet MS" pitchFamily="34" charset="-122"/>
                <a:cs typeface="Trebuchet MS" pitchFamily="34" charset="-120"/>
              </a:rPr>
              <a:t>Algorithms: Jacobian, FABRIK, CCD</a:t>
            </a:r>
            <a:endParaRPr lang="en-US" sz="1300" dirty="0"/>
          </a:p>
        </p:txBody>
      </p:sp>
      <p:sp>
        <p:nvSpPr>
          <p:cNvPr id="22" name="Shape 20"/>
          <p:cNvSpPr/>
          <p:nvPr/>
        </p:nvSpPr>
        <p:spPr>
          <a:xfrm>
            <a:off x="4754880" y="2432304"/>
            <a:ext cx="4206240" cy="960120"/>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23" name="Shape 21"/>
          <p:cNvSpPr/>
          <p:nvPr/>
        </p:nvSpPr>
        <p:spPr>
          <a:xfrm>
            <a:off x="4754880" y="2432304"/>
            <a:ext cx="566928" cy="960120"/>
          </a:xfrm>
          <a:prstGeom prst="rect">
            <a:avLst/>
          </a:prstGeom>
          <a:solidFill>
            <a:srgbClr val="10B981"/>
          </a:solidFill>
          <a:ln w="12700">
            <a:solidFill>
              <a:srgbClr val="10B981"/>
            </a:solidFill>
            <a:prstDash val="solid"/>
          </a:ln>
        </p:spPr>
      </p:sp>
      <p:sp>
        <p:nvSpPr>
          <p:cNvPr id="24" name="Text 22"/>
          <p:cNvSpPr/>
          <p:nvPr/>
        </p:nvSpPr>
        <p:spPr>
          <a:xfrm>
            <a:off x="4754880" y="2432304"/>
            <a:ext cx="566928"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05</a:t>
            </a:r>
            <a:endParaRPr lang="en-US" sz="1800" dirty="0"/>
          </a:p>
        </p:txBody>
      </p:sp>
      <p:sp>
        <p:nvSpPr>
          <p:cNvPr id="25" name="Text 23"/>
          <p:cNvSpPr/>
          <p:nvPr/>
        </p:nvSpPr>
        <p:spPr>
          <a:xfrm>
            <a:off x="5413248" y="2505456"/>
            <a:ext cx="3456432" cy="804672"/>
          </a:xfrm>
          <a:prstGeom prst="rect">
            <a:avLst/>
          </a:prstGeom>
          <a:noFill/>
          <a:ln/>
        </p:spPr>
        <p:txBody>
          <a:bodyPr wrap="square" lIns="0" tIns="0" rIns="0" bIns="0" rtlCol="0" anchor="ctr"/>
          <a:lstStyle/>
          <a:p>
            <a:pPr marL="0" indent="0">
              <a:buNone/>
            </a:pPr>
            <a:r>
              <a:rPr lang="en-US" sz="1300" dirty="0">
                <a:solidFill>
                  <a:srgbClr val="CBD5E1"/>
                </a:solidFill>
                <a:latin typeface="Trebuchet MS" pitchFamily="34" charset="0"/>
                <a:ea typeface="Trebuchet MS" pitchFamily="34" charset="-122"/>
                <a:cs typeface="Trebuchet MS" pitchFamily="34" charset="-120"/>
              </a:rPr>
              <a:t>Proposed Architecture &amp; Solution</a:t>
            </a:r>
            <a:endParaRPr lang="en-US" sz="1300" dirty="0"/>
          </a:p>
        </p:txBody>
      </p:sp>
      <p:sp>
        <p:nvSpPr>
          <p:cNvPr id="26" name="Shape 24"/>
          <p:cNvSpPr/>
          <p:nvPr/>
        </p:nvSpPr>
        <p:spPr>
          <a:xfrm>
            <a:off x="4754880" y="3602736"/>
            <a:ext cx="4206240" cy="960120"/>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27" name="Shape 25"/>
          <p:cNvSpPr/>
          <p:nvPr/>
        </p:nvSpPr>
        <p:spPr>
          <a:xfrm>
            <a:off x="4754880" y="3602736"/>
            <a:ext cx="566928" cy="960120"/>
          </a:xfrm>
          <a:prstGeom prst="rect">
            <a:avLst/>
          </a:prstGeom>
          <a:solidFill>
            <a:srgbClr val="10B981"/>
          </a:solidFill>
          <a:ln w="12700">
            <a:solidFill>
              <a:srgbClr val="10B981"/>
            </a:solidFill>
            <a:prstDash val="solid"/>
          </a:ln>
        </p:spPr>
      </p:sp>
      <p:sp>
        <p:nvSpPr>
          <p:cNvPr id="28" name="Text 26"/>
          <p:cNvSpPr/>
          <p:nvPr/>
        </p:nvSpPr>
        <p:spPr>
          <a:xfrm>
            <a:off x="4754880" y="3602736"/>
            <a:ext cx="566928"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06</a:t>
            </a:r>
            <a:endParaRPr lang="en-US" sz="1800" dirty="0"/>
          </a:p>
        </p:txBody>
      </p:sp>
      <p:sp>
        <p:nvSpPr>
          <p:cNvPr id="29" name="Text 27"/>
          <p:cNvSpPr/>
          <p:nvPr/>
        </p:nvSpPr>
        <p:spPr>
          <a:xfrm>
            <a:off x="5413248" y="3675888"/>
            <a:ext cx="3456432" cy="804672"/>
          </a:xfrm>
          <a:prstGeom prst="rect">
            <a:avLst/>
          </a:prstGeom>
          <a:noFill/>
          <a:ln/>
        </p:spPr>
        <p:txBody>
          <a:bodyPr wrap="square" lIns="0" tIns="0" rIns="0" bIns="0" rtlCol="0" anchor="ctr"/>
          <a:lstStyle/>
          <a:p>
            <a:pPr marL="0" indent="0">
              <a:buNone/>
            </a:pPr>
            <a:r>
              <a:rPr lang="en-US" sz="1300" dirty="0">
                <a:solidFill>
                  <a:srgbClr val="CBD5E1"/>
                </a:solidFill>
                <a:latin typeface="Trebuchet MS" pitchFamily="34" charset="0"/>
                <a:ea typeface="Trebuchet MS" pitchFamily="34" charset="-122"/>
                <a:cs typeface="Trebuchet MS" pitchFamily="34" charset="-120"/>
              </a:rPr>
              <a:t>Interactive Features &amp; Conclusion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7316"/>
          </a:solidFill>
          <a:ln w="12700">
            <a:solidFill>
              <a:srgbClr val="F9731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Research: What is Inverse Kinematics?</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1 — PROBLEM TOPIC RESEARCH</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Text 4"/>
          <p:cNvSpPr/>
          <p:nvPr/>
        </p:nvSpPr>
        <p:spPr>
          <a:xfrm>
            <a:off x="320040" y="1261872"/>
            <a:ext cx="4023360" cy="292608"/>
          </a:xfrm>
          <a:prstGeom prst="rect">
            <a:avLst/>
          </a:prstGeom>
          <a:noFill/>
          <a:ln/>
        </p:spPr>
        <p:txBody>
          <a:bodyPr wrap="square" lIns="0" tIns="0" rIns="0" bIns="0" rtlCol="0" anchor="ctr"/>
          <a:lstStyle/>
          <a:p>
            <a:pPr marL="0" indent="0">
              <a:buNone/>
            </a:pPr>
            <a:r>
              <a:rPr lang="en-US" sz="1400" b="1" dirty="0">
                <a:solidFill>
                  <a:srgbClr val="3B82F6"/>
                </a:solidFill>
                <a:latin typeface="Trebuchet MS" pitchFamily="34" charset="0"/>
                <a:ea typeface="Trebuchet MS" pitchFamily="34" charset="-122"/>
                <a:cs typeface="Trebuchet MS" pitchFamily="34" charset="-120"/>
              </a:rPr>
              <a:t>Forward Kinematics</a:t>
            </a:r>
            <a:endParaRPr lang="en-US" sz="1400" dirty="0"/>
          </a:p>
        </p:txBody>
      </p:sp>
      <p:sp>
        <p:nvSpPr>
          <p:cNvPr id="7" name="Text 5"/>
          <p:cNvSpPr/>
          <p:nvPr/>
        </p:nvSpPr>
        <p:spPr>
          <a:xfrm>
            <a:off x="320040" y="1581912"/>
            <a:ext cx="4023360" cy="1005840"/>
          </a:xfrm>
          <a:prstGeom prst="rect">
            <a:avLst/>
          </a:prstGeom>
          <a:noFill/>
          <a:ln/>
        </p:spPr>
        <p:txBody>
          <a:bodyPr wrap="square" rtlCol="0" anchor="ctr"/>
          <a:lstStyle/>
          <a:p>
            <a:pPr marL="342900" indent="-342900">
              <a:buSzPct val="100000"/>
              <a:buChar char="•"/>
            </a:pPr>
            <a:r>
              <a:rPr lang="en-US" sz="1200" dirty="0">
                <a:solidFill>
                  <a:srgbClr val="CBD5E1"/>
                </a:solidFill>
                <a:latin typeface="Trebuchet MS" pitchFamily="34" charset="0"/>
                <a:ea typeface="Trebuchet MS" pitchFamily="34" charset="-122"/>
                <a:cs typeface="Trebuchet MS" pitchFamily="34" charset="-120"/>
              </a:rPr>
              <a:t>Given joint angles → compute end-effector position</a:t>
            </a:r>
            <a:endParaRPr lang="en-US" sz="1200" dirty="0"/>
          </a:p>
          <a:p>
            <a:pPr marL="342900" indent="-342900">
              <a:buSzPct val="100000"/>
              <a:buChar char="•"/>
            </a:pPr>
            <a:r>
              <a:rPr lang="en-US" sz="1200" dirty="0">
                <a:solidFill>
                  <a:srgbClr val="CBD5E1"/>
                </a:solidFill>
                <a:latin typeface="Trebuchet MS" pitchFamily="34" charset="0"/>
                <a:ea typeface="Trebuchet MS" pitchFamily="34" charset="-122"/>
                <a:cs typeface="Trebuchet MS" pitchFamily="34" charset="-120"/>
              </a:rPr>
              <a:t>Deterministic: one input → one output</a:t>
            </a:r>
            <a:endParaRPr lang="en-US" sz="1200" dirty="0"/>
          </a:p>
          <a:p>
            <a:pPr marL="342900" indent="-342900">
              <a:buSzPct val="100000"/>
              <a:buChar char="•"/>
            </a:pPr>
            <a:r>
              <a:rPr lang="en-US" sz="1200" dirty="0">
                <a:solidFill>
                  <a:srgbClr val="CBD5E1"/>
                </a:solidFill>
                <a:latin typeface="Trebuchet MS" pitchFamily="34" charset="0"/>
                <a:ea typeface="Trebuchet MS" pitchFamily="34" charset="-122"/>
                <a:cs typeface="Trebuchet MS" pitchFamily="34" charset="-120"/>
              </a:rPr>
              <a:t>Simple matrix multiplication along the chain</a:t>
            </a:r>
            <a:endParaRPr lang="en-US" sz="1200" dirty="0"/>
          </a:p>
        </p:txBody>
      </p:sp>
      <p:sp>
        <p:nvSpPr>
          <p:cNvPr id="8" name="Text 6"/>
          <p:cNvSpPr/>
          <p:nvPr/>
        </p:nvSpPr>
        <p:spPr>
          <a:xfrm>
            <a:off x="320040" y="2724912"/>
            <a:ext cx="4023360" cy="292608"/>
          </a:xfrm>
          <a:prstGeom prst="rect">
            <a:avLst/>
          </a:prstGeom>
          <a:noFill/>
          <a:ln/>
        </p:spPr>
        <p:txBody>
          <a:bodyPr wrap="square" lIns="0" tIns="0" rIns="0" bIns="0" rtlCol="0" anchor="ctr"/>
          <a:lstStyle/>
          <a:p>
            <a:pPr marL="0" indent="0">
              <a:buNone/>
            </a:pPr>
            <a:r>
              <a:rPr lang="en-US" sz="1400" b="1" dirty="0">
                <a:solidFill>
                  <a:srgbClr val="F97316"/>
                </a:solidFill>
                <a:latin typeface="Trebuchet MS" pitchFamily="34" charset="0"/>
                <a:ea typeface="Trebuchet MS" pitchFamily="34" charset="-122"/>
                <a:cs typeface="Trebuchet MS" pitchFamily="34" charset="-120"/>
              </a:rPr>
              <a:t>Inverse Kinematics (IK)</a:t>
            </a:r>
            <a:endParaRPr lang="en-US" sz="1400" dirty="0"/>
          </a:p>
        </p:txBody>
      </p:sp>
      <p:sp>
        <p:nvSpPr>
          <p:cNvPr id="9" name="Text 7"/>
          <p:cNvSpPr/>
          <p:nvPr/>
        </p:nvSpPr>
        <p:spPr>
          <a:xfrm>
            <a:off x="320040" y="3044952"/>
            <a:ext cx="4023360" cy="1005840"/>
          </a:xfrm>
          <a:prstGeom prst="rect">
            <a:avLst/>
          </a:prstGeom>
          <a:noFill/>
          <a:ln/>
        </p:spPr>
        <p:txBody>
          <a:bodyPr wrap="square" rtlCol="0" anchor="ctr"/>
          <a:lstStyle/>
          <a:p>
            <a:pPr marL="342900" indent="-342900">
              <a:buSzPct val="100000"/>
              <a:buChar char="•"/>
            </a:pPr>
            <a:r>
              <a:rPr lang="en-US" sz="1200" dirty="0">
                <a:solidFill>
                  <a:srgbClr val="CBD5E1"/>
                </a:solidFill>
                <a:latin typeface="Trebuchet MS" pitchFamily="34" charset="0"/>
                <a:ea typeface="Trebuchet MS" pitchFamily="34" charset="-122"/>
                <a:cs typeface="Trebuchet MS" pitchFamily="34" charset="-120"/>
              </a:rPr>
              <a:t>Given target position → compute the required joint angles</a:t>
            </a:r>
            <a:endParaRPr lang="en-US" sz="1200" dirty="0"/>
          </a:p>
          <a:p>
            <a:pPr marL="342900" indent="-342900">
              <a:buSzPct val="100000"/>
              <a:buChar char="•"/>
            </a:pPr>
            <a:r>
              <a:rPr lang="en-US" sz="1200" dirty="0">
                <a:solidFill>
                  <a:srgbClr val="CBD5E1"/>
                </a:solidFill>
                <a:latin typeface="Trebuchet MS" pitchFamily="34" charset="0"/>
                <a:ea typeface="Trebuchet MS" pitchFamily="34" charset="-122"/>
                <a:cs typeface="Trebuchet MS" pitchFamily="34" charset="-120"/>
              </a:rPr>
              <a:t>Non-trivial: multiple solutions or none may exist</a:t>
            </a:r>
            <a:endParaRPr lang="en-US" sz="1200" dirty="0"/>
          </a:p>
          <a:p>
            <a:pPr marL="342900" indent="-342900">
              <a:buSzPct val="100000"/>
              <a:buChar char="•"/>
            </a:pPr>
            <a:r>
              <a:rPr lang="en-US" sz="1200" dirty="0">
                <a:solidFill>
                  <a:srgbClr val="CBD5E1"/>
                </a:solidFill>
                <a:latin typeface="Trebuchet MS" pitchFamily="34" charset="0"/>
                <a:ea typeface="Trebuchet MS" pitchFamily="34" charset="-122"/>
                <a:cs typeface="Trebuchet MS" pitchFamily="34" charset="-120"/>
              </a:rPr>
              <a:t>Core challenge in robotics, animation, and biomechanics</a:t>
            </a:r>
            <a:endParaRPr lang="en-US" sz="1200" dirty="0"/>
          </a:p>
        </p:txBody>
      </p:sp>
      <p:sp>
        <p:nvSpPr>
          <p:cNvPr id="10" name="Shape 8"/>
          <p:cNvSpPr/>
          <p:nvPr/>
        </p:nvSpPr>
        <p:spPr>
          <a:xfrm>
            <a:off x="4663440" y="1261872"/>
            <a:ext cx="4206240" cy="3520440"/>
          </a:xfrm>
          <a:prstGeom prst="rect">
            <a:avLst/>
          </a:prstGeom>
          <a:solidFill>
            <a:srgbClr val="1C2233"/>
          </a:solidFill>
          <a:ln w="12700">
            <a:solidFill>
              <a:srgbClr val="1E293B"/>
            </a:solidFill>
            <a:prstDash val="solid"/>
          </a:ln>
        </p:spPr>
      </p:sp>
      <p:sp>
        <p:nvSpPr>
          <p:cNvPr id="11" name="Text 9"/>
          <p:cNvSpPr/>
          <p:nvPr/>
        </p:nvSpPr>
        <p:spPr>
          <a:xfrm>
            <a:off x="4846320" y="1417320"/>
            <a:ext cx="384048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FK  vs  IK</a:t>
            </a:r>
            <a:endParaRPr lang="en-US" sz="1500" dirty="0"/>
          </a:p>
        </p:txBody>
      </p:sp>
      <p:sp>
        <p:nvSpPr>
          <p:cNvPr id="12" name="Text 10"/>
          <p:cNvSpPr/>
          <p:nvPr/>
        </p:nvSpPr>
        <p:spPr>
          <a:xfrm>
            <a:off x="4846320" y="1828800"/>
            <a:ext cx="1828800" cy="274320"/>
          </a:xfrm>
          <a:prstGeom prst="rect">
            <a:avLst/>
          </a:prstGeom>
          <a:noFill/>
          <a:ln/>
        </p:spPr>
        <p:txBody>
          <a:bodyPr wrap="square" lIns="0" tIns="0" rIns="0" bIns="0" rtlCol="0" anchor="ctr"/>
          <a:lstStyle/>
          <a:p>
            <a:pPr marL="0" indent="0" algn="ctr">
              <a:buNone/>
            </a:pPr>
            <a:r>
              <a:rPr lang="en-US" sz="900" b="1" dirty="0">
                <a:solidFill>
                  <a:srgbClr val="3B82F6"/>
                </a:solidFill>
                <a:latin typeface="Trebuchet MS" pitchFamily="34" charset="0"/>
                <a:ea typeface="Trebuchet MS" pitchFamily="34" charset="-122"/>
                <a:cs typeface="Trebuchet MS" pitchFamily="34" charset="-120"/>
              </a:rPr>
              <a:t>FORWARD KINEMATICS</a:t>
            </a:r>
            <a:endParaRPr lang="en-US" sz="900" dirty="0"/>
          </a:p>
        </p:txBody>
      </p:sp>
      <p:sp>
        <p:nvSpPr>
          <p:cNvPr id="13" name="Text 11"/>
          <p:cNvSpPr/>
          <p:nvPr/>
        </p:nvSpPr>
        <p:spPr>
          <a:xfrm>
            <a:off x="4846320" y="2121408"/>
            <a:ext cx="1828800" cy="914400"/>
          </a:xfrm>
          <a:prstGeom prst="rect">
            <a:avLst/>
          </a:prstGeom>
          <a:noFill/>
          <a:ln/>
        </p:spPr>
        <p:txBody>
          <a:bodyPr wrap="square" rtlCol="0" anchor="ctr"/>
          <a:lstStyle/>
          <a:p>
            <a:pPr marL="0" indent="0" algn="ctr">
              <a:buNone/>
            </a:pPr>
            <a:r>
              <a:rPr lang="en-US" sz="1200" dirty="0">
                <a:solidFill>
                  <a:srgbClr val="CBD5E1"/>
                </a:solidFill>
                <a:latin typeface="Trebuchet MS" pitchFamily="34" charset="0"/>
                <a:ea typeface="Trebuchet MS" pitchFamily="34" charset="-122"/>
                <a:cs typeface="Trebuchet MS" pitchFamily="34" charset="-120"/>
              </a:rPr>
              <a:t>θ₁, θ₂, θ₃</a:t>
            </a:r>
            <a:endParaRPr lang="en-US" sz="1200" dirty="0"/>
          </a:p>
          <a:p>
            <a:pPr marL="0" indent="0" algn="ctr">
              <a:buNone/>
            </a:pPr>
            <a:r>
              <a:rPr lang="en-US" sz="1200" dirty="0">
                <a:solidFill>
                  <a:srgbClr val="CBD5E1"/>
                </a:solidFill>
                <a:latin typeface="Trebuchet MS" pitchFamily="34" charset="0"/>
                <a:ea typeface="Trebuchet MS" pitchFamily="34" charset="-122"/>
                <a:cs typeface="Trebuchet MS" pitchFamily="34" charset="-120"/>
              </a:rPr>
              <a:t>⬇</a:t>
            </a:r>
            <a:endParaRPr lang="en-US" sz="1200" dirty="0"/>
          </a:p>
          <a:p>
            <a:pPr marL="0" indent="0" algn="ctr">
              <a:buNone/>
            </a:pPr>
            <a:r>
              <a:rPr lang="en-US" sz="1200" dirty="0">
                <a:solidFill>
                  <a:srgbClr val="CBD5E1"/>
                </a:solidFill>
                <a:latin typeface="Trebuchet MS" pitchFamily="34" charset="0"/>
                <a:ea typeface="Trebuchet MS" pitchFamily="34" charset="-122"/>
                <a:cs typeface="Trebuchet MS" pitchFamily="34" charset="-120"/>
              </a:rPr>
              <a:t>Position (x, y)</a:t>
            </a:r>
            <a:endParaRPr lang="en-US" sz="1200" dirty="0"/>
          </a:p>
        </p:txBody>
      </p:sp>
      <p:sp>
        <p:nvSpPr>
          <p:cNvPr id="14" name="Shape 12"/>
          <p:cNvSpPr/>
          <p:nvPr/>
        </p:nvSpPr>
        <p:spPr>
          <a:xfrm>
            <a:off x="6675120" y="1874520"/>
            <a:ext cx="18288" cy="1645920"/>
          </a:xfrm>
          <a:prstGeom prst="rect">
            <a:avLst/>
          </a:prstGeom>
          <a:solidFill>
            <a:srgbClr val="1E293B"/>
          </a:solidFill>
          <a:ln w="12700">
            <a:solidFill>
              <a:srgbClr val="1E293B"/>
            </a:solidFill>
            <a:prstDash val="solid"/>
          </a:ln>
        </p:spPr>
      </p:sp>
      <p:sp>
        <p:nvSpPr>
          <p:cNvPr id="15" name="Text 13"/>
          <p:cNvSpPr/>
          <p:nvPr/>
        </p:nvSpPr>
        <p:spPr>
          <a:xfrm>
            <a:off x="6720840" y="1828800"/>
            <a:ext cx="2011680" cy="274320"/>
          </a:xfrm>
          <a:prstGeom prst="rect">
            <a:avLst/>
          </a:prstGeom>
          <a:noFill/>
          <a:ln/>
        </p:spPr>
        <p:txBody>
          <a:bodyPr wrap="square" lIns="0" tIns="0" rIns="0" bIns="0" rtlCol="0" anchor="ctr"/>
          <a:lstStyle/>
          <a:p>
            <a:pPr marL="0" indent="0" algn="ctr">
              <a:buNone/>
            </a:pPr>
            <a:r>
              <a:rPr lang="en-US" sz="900" b="1" dirty="0">
                <a:solidFill>
                  <a:srgbClr val="F97316"/>
                </a:solidFill>
                <a:latin typeface="Trebuchet MS" pitchFamily="34" charset="0"/>
                <a:ea typeface="Trebuchet MS" pitchFamily="34" charset="-122"/>
                <a:cs typeface="Trebuchet MS" pitchFamily="34" charset="-120"/>
              </a:rPr>
              <a:t>INVERSE KINEMATICS</a:t>
            </a:r>
            <a:endParaRPr lang="en-US" sz="900" dirty="0"/>
          </a:p>
        </p:txBody>
      </p:sp>
      <p:sp>
        <p:nvSpPr>
          <p:cNvPr id="16" name="Text 14"/>
          <p:cNvSpPr/>
          <p:nvPr/>
        </p:nvSpPr>
        <p:spPr>
          <a:xfrm>
            <a:off x="6720840" y="2121408"/>
            <a:ext cx="2011680" cy="914400"/>
          </a:xfrm>
          <a:prstGeom prst="rect">
            <a:avLst/>
          </a:prstGeom>
          <a:noFill/>
          <a:ln/>
        </p:spPr>
        <p:txBody>
          <a:bodyPr wrap="square" rtlCol="0" anchor="ctr"/>
          <a:lstStyle/>
          <a:p>
            <a:pPr marL="0" indent="0" algn="ctr">
              <a:buNone/>
            </a:pPr>
            <a:r>
              <a:rPr lang="en-US" sz="1200" dirty="0">
                <a:solidFill>
                  <a:srgbClr val="CBD5E1"/>
                </a:solidFill>
                <a:latin typeface="Trebuchet MS" pitchFamily="34" charset="0"/>
                <a:ea typeface="Trebuchet MS" pitchFamily="34" charset="-122"/>
                <a:cs typeface="Trebuchet MS" pitchFamily="34" charset="-120"/>
              </a:rPr>
              <a:t>Position (x, y)</a:t>
            </a:r>
            <a:endParaRPr lang="en-US" sz="1200" dirty="0"/>
          </a:p>
          <a:p>
            <a:pPr marL="0" indent="0" algn="ctr">
              <a:buNone/>
            </a:pPr>
            <a:r>
              <a:rPr lang="en-US" sz="1200" dirty="0">
                <a:solidFill>
                  <a:srgbClr val="CBD5E1"/>
                </a:solidFill>
                <a:latin typeface="Trebuchet MS" pitchFamily="34" charset="0"/>
                <a:ea typeface="Trebuchet MS" pitchFamily="34" charset="-122"/>
                <a:cs typeface="Trebuchet MS" pitchFamily="34" charset="-120"/>
              </a:rPr>
              <a:t>⬇</a:t>
            </a:r>
            <a:endParaRPr lang="en-US" sz="1200" dirty="0"/>
          </a:p>
          <a:p>
            <a:pPr marL="0" indent="0" algn="ctr">
              <a:buNone/>
            </a:pPr>
            <a:r>
              <a:rPr lang="en-US" sz="1200" dirty="0">
                <a:solidFill>
                  <a:srgbClr val="CBD5E1"/>
                </a:solidFill>
                <a:latin typeface="Trebuchet MS" pitchFamily="34" charset="0"/>
                <a:ea typeface="Trebuchet MS" pitchFamily="34" charset="-122"/>
                <a:cs typeface="Trebuchet MS" pitchFamily="34" charset="-120"/>
              </a:rPr>
              <a:t>θ₁, θ₂, θ₃ = ?</a:t>
            </a:r>
            <a:endParaRPr lang="en-US" sz="1200" dirty="0"/>
          </a:p>
        </p:txBody>
      </p:sp>
      <p:sp>
        <p:nvSpPr>
          <p:cNvPr id="17" name="Text 15"/>
          <p:cNvSpPr/>
          <p:nvPr/>
        </p:nvSpPr>
        <p:spPr>
          <a:xfrm>
            <a:off x="4846320" y="3246120"/>
            <a:ext cx="3840480" cy="228600"/>
          </a:xfrm>
          <a:prstGeom prst="rect">
            <a:avLst/>
          </a:prstGeom>
          <a:noFill/>
          <a:ln/>
        </p:spPr>
        <p:txBody>
          <a:bodyPr wrap="square" lIns="0" tIns="0" rIns="0" bIns="0" rtlCol="0" anchor="ctr"/>
          <a:lstStyle/>
          <a:p>
            <a:pPr marL="0" indent="0">
              <a:buNone/>
            </a:pPr>
            <a:r>
              <a:rPr lang="en-US" sz="1100" b="1" dirty="0">
                <a:solidFill>
                  <a:srgbClr val="10B981"/>
                </a:solidFill>
                <a:latin typeface="Trebuchet MS" pitchFamily="34" charset="0"/>
                <a:ea typeface="Trebuchet MS" pitchFamily="34" charset="-122"/>
                <a:cs typeface="Trebuchet MS" pitchFamily="34" charset="-120"/>
              </a:rPr>
              <a:t>Research Context</a:t>
            </a:r>
            <a:endParaRPr lang="en-US" sz="1100" dirty="0"/>
          </a:p>
        </p:txBody>
      </p:sp>
      <p:sp>
        <p:nvSpPr>
          <p:cNvPr id="18" name="Text 16"/>
          <p:cNvSpPr/>
          <p:nvPr/>
        </p:nvSpPr>
        <p:spPr>
          <a:xfrm>
            <a:off x="4846320" y="3493008"/>
            <a:ext cx="3840480" cy="1005840"/>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IK is foundational to: industrial robotics, game character animation, surgical robots, VR hand tracking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7316"/>
          </a:solidFill>
          <a:ln w="12700">
            <a:solidFill>
              <a:srgbClr val="F9731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Research: Why Is IK Difficult?</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1 — PROBLEM TOPIC RESEARCH</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274320" y="1261872"/>
            <a:ext cx="2788920" cy="1664208"/>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7" name="Shape 5"/>
          <p:cNvSpPr/>
          <p:nvPr/>
        </p:nvSpPr>
        <p:spPr>
          <a:xfrm>
            <a:off x="274320" y="1261872"/>
            <a:ext cx="2788920" cy="256032"/>
          </a:xfrm>
          <a:prstGeom prst="rect">
            <a:avLst/>
          </a:prstGeom>
          <a:solidFill>
            <a:srgbClr val="F97316"/>
          </a:solidFill>
          <a:ln w="12700">
            <a:solidFill>
              <a:srgbClr val="F97316"/>
            </a:solidFill>
            <a:prstDash val="solid"/>
          </a:ln>
        </p:spPr>
      </p:sp>
      <p:sp>
        <p:nvSpPr>
          <p:cNvPr id="8" name="Text 6"/>
          <p:cNvSpPr/>
          <p:nvPr/>
        </p:nvSpPr>
        <p:spPr>
          <a:xfrm>
            <a:off x="347472" y="1261872"/>
            <a:ext cx="2633472"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Non-Linear Math</a:t>
            </a:r>
            <a:endParaRPr lang="en-US" sz="1100" dirty="0"/>
          </a:p>
        </p:txBody>
      </p:sp>
      <p:sp>
        <p:nvSpPr>
          <p:cNvPr id="9" name="Text 7"/>
          <p:cNvSpPr/>
          <p:nvPr/>
        </p:nvSpPr>
        <p:spPr>
          <a:xfrm>
            <a:off x="365760" y="1563624"/>
            <a:ext cx="2606040" cy="1261872"/>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Joint rotations compose via matrix multiplication — small angle changes near singularities cause wildly disproportionate end-effector movement.</a:t>
            </a:r>
            <a:endParaRPr lang="en-US" sz="1100" dirty="0"/>
          </a:p>
        </p:txBody>
      </p:sp>
      <p:sp>
        <p:nvSpPr>
          <p:cNvPr id="10" name="Shape 8"/>
          <p:cNvSpPr/>
          <p:nvPr/>
        </p:nvSpPr>
        <p:spPr>
          <a:xfrm>
            <a:off x="3218688" y="1261872"/>
            <a:ext cx="2788920" cy="1664208"/>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11" name="Shape 9"/>
          <p:cNvSpPr/>
          <p:nvPr/>
        </p:nvSpPr>
        <p:spPr>
          <a:xfrm>
            <a:off x="3218688" y="1261872"/>
            <a:ext cx="2788920" cy="256032"/>
          </a:xfrm>
          <a:prstGeom prst="rect">
            <a:avLst/>
          </a:prstGeom>
          <a:solidFill>
            <a:srgbClr val="3B82F6"/>
          </a:solidFill>
          <a:ln w="12700">
            <a:solidFill>
              <a:srgbClr val="3B82F6"/>
            </a:solidFill>
            <a:prstDash val="solid"/>
          </a:ln>
        </p:spPr>
      </p:sp>
      <p:sp>
        <p:nvSpPr>
          <p:cNvPr id="12" name="Text 10"/>
          <p:cNvSpPr/>
          <p:nvPr/>
        </p:nvSpPr>
        <p:spPr>
          <a:xfrm>
            <a:off x="3291840" y="1261872"/>
            <a:ext cx="2633472"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Multiple Solutions</a:t>
            </a:r>
            <a:endParaRPr lang="en-US" sz="1100" dirty="0"/>
          </a:p>
        </p:txBody>
      </p:sp>
      <p:sp>
        <p:nvSpPr>
          <p:cNvPr id="13" name="Text 11"/>
          <p:cNvSpPr/>
          <p:nvPr/>
        </p:nvSpPr>
        <p:spPr>
          <a:xfrm>
            <a:off x="3310128" y="1563624"/>
            <a:ext cx="2606040" cy="1261872"/>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A 3-joint arm can reach a single target with infinitely many angle configurations. Choosing the 'best' one requires optimization criteria.</a:t>
            </a:r>
            <a:endParaRPr lang="en-US" sz="1100" dirty="0"/>
          </a:p>
        </p:txBody>
      </p:sp>
      <p:sp>
        <p:nvSpPr>
          <p:cNvPr id="14" name="Shape 12"/>
          <p:cNvSpPr/>
          <p:nvPr/>
        </p:nvSpPr>
        <p:spPr>
          <a:xfrm>
            <a:off x="6163056" y="1261872"/>
            <a:ext cx="2788920" cy="1664208"/>
          </a:xfrm>
          <a:prstGeom prst="rect">
            <a:avLst/>
          </a:prstGeom>
          <a:solidFill>
            <a:srgbClr val="1C2233"/>
          </a:solidFill>
          <a:ln w="15240">
            <a:solidFill>
              <a:srgbClr val="EF4444"/>
            </a:solidFill>
            <a:prstDash val="solid"/>
          </a:ln>
          <a:effectLst>
            <a:outerShdw blurRad="101600" dist="38100" dir="8100000" algn="bl" rotWithShape="0">
              <a:srgbClr val="000000">
                <a:alpha val="25000"/>
              </a:srgbClr>
            </a:outerShdw>
          </a:effectLst>
        </p:spPr>
      </p:sp>
      <p:sp>
        <p:nvSpPr>
          <p:cNvPr id="15" name="Shape 13"/>
          <p:cNvSpPr/>
          <p:nvPr/>
        </p:nvSpPr>
        <p:spPr>
          <a:xfrm>
            <a:off x="6163056" y="1261872"/>
            <a:ext cx="2788920" cy="256032"/>
          </a:xfrm>
          <a:prstGeom prst="rect">
            <a:avLst/>
          </a:prstGeom>
          <a:solidFill>
            <a:srgbClr val="EF4444"/>
          </a:solidFill>
          <a:ln w="12700">
            <a:solidFill>
              <a:srgbClr val="EF4444"/>
            </a:solidFill>
            <a:prstDash val="solid"/>
          </a:ln>
        </p:spPr>
      </p:sp>
      <p:sp>
        <p:nvSpPr>
          <p:cNvPr id="16" name="Text 14"/>
          <p:cNvSpPr/>
          <p:nvPr/>
        </p:nvSpPr>
        <p:spPr>
          <a:xfrm>
            <a:off x="6236208" y="1261872"/>
            <a:ext cx="2633472"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Singularities</a:t>
            </a:r>
            <a:endParaRPr lang="en-US" sz="1100" dirty="0"/>
          </a:p>
        </p:txBody>
      </p:sp>
      <p:sp>
        <p:nvSpPr>
          <p:cNvPr id="17" name="Text 15"/>
          <p:cNvSpPr/>
          <p:nvPr/>
        </p:nvSpPr>
        <p:spPr>
          <a:xfrm>
            <a:off x="6254496" y="1563624"/>
            <a:ext cx="2606040" cy="1261872"/>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Configurations where the robot loses a degree of freedom. The Jacobian determinant → 0, causing algorithm instability or infinite velocities.</a:t>
            </a:r>
            <a:endParaRPr lang="en-US" sz="1100" dirty="0"/>
          </a:p>
        </p:txBody>
      </p:sp>
      <p:sp>
        <p:nvSpPr>
          <p:cNvPr id="18" name="Shape 16"/>
          <p:cNvSpPr/>
          <p:nvPr/>
        </p:nvSpPr>
        <p:spPr>
          <a:xfrm>
            <a:off x="274320" y="3044952"/>
            <a:ext cx="2788920" cy="1664208"/>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19" name="Shape 17"/>
          <p:cNvSpPr/>
          <p:nvPr/>
        </p:nvSpPr>
        <p:spPr>
          <a:xfrm>
            <a:off x="274320" y="3044952"/>
            <a:ext cx="2788920" cy="256032"/>
          </a:xfrm>
          <a:prstGeom prst="rect">
            <a:avLst/>
          </a:prstGeom>
          <a:solidFill>
            <a:srgbClr val="10B981"/>
          </a:solidFill>
          <a:ln w="12700">
            <a:solidFill>
              <a:srgbClr val="10B981"/>
            </a:solidFill>
            <a:prstDash val="solid"/>
          </a:ln>
        </p:spPr>
      </p:sp>
      <p:sp>
        <p:nvSpPr>
          <p:cNvPr id="20" name="Text 18"/>
          <p:cNvSpPr/>
          <p:nvPr/>
        </p:nvSpPr>
        <p:spPr>
          <a:xfrm>
            <a:off x="347472" y="3044952"/>
            <a:ext cx="2633472"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Closed-Form Limits</a:t>
            </a:r>
            <a:endParaRPr lang="en-US" sz="1100" dirty="0"/>
          </a:p>
        </p:txBody>
      </p:sp>
      <p:sp>
        <p:nvSpPr>
          <p:cNvPr id="21" name="Text 19"/>
          <p:cNvSpPr/>
          <p:nvPr/>
        </p:nvSpPr>
        <p:spPr>
          <a:xfrm>
            <a:off x="365760" y="3346704"/>
            <a:ext cx="2606040" cy="1261872"/>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Analytical solutions exist only for simple chains (≤3 joints). Real robots require iterative numerical methods that may diverge.</a:t>
            </a:r>
            <a:endParaRPr lang="en-US" sz="1100" dirty="0"/>
          </a:p>
        </p:txBody>
      </p:sp>
      <p:sp>
        <p:nvSpPr>
          <p:cNvPr id="22" name="Shape 20"/>
          <p:cNvSpPr/>
          <p:nvPr/>
        </p:nvSpPr>
        <p:spPr>
          <a:xfrm>
            <a:off x="3218688" y="3044952"/>
            <a:ext cx="2788920" cy="1664208"/>
          </a:xfrm>
          <a:prstGeom prst="rect">
            <a:avLst/>
          </a:prstGeom>
          <a:solidFill>
            <a:srgbClr val="1C2233"/>
          </a:solidFill>
          <a:ln w="15240">
            <a:solidFill>
              <a:srgbClr val="A855F7"/>
            </a:solidFill>
            <a:prstDash val="solid"/>
          </a:ln>
          <a:effectLst>
            <a:outerShdw blurRad="101600" dist="38100" dir="8100000" algn="bl" rotWithShape="0">
              <a:srgbClr val="000000">
                <a:alpha val="25000"/>
              </a:srgbClr>
            </a:outerShdw>
          </a:effectLst>
        </p:spPr>
      </p:sp>
      <p:sp>
        <p:nvSpPr>
          <p:cNvPr id="23" name="Shape 21"/>
          <p:cNvSpPr/>
          <p:nvPr/>
        </p:nvSpPr>
        <p:spPr>
          <a:xfrm>
            <a:off x="3218688" y="3044952"/>
            <a:ext cx="2788920" cy="256032"/>
          </a:xfrm>
          <a:prstGeom prst="rect">
            <a:avLst/>
          </a:prstGeom>
          <a:solidFill>
            <a:srgbClr val="A855F7"/>
          </a:solidFill>
          <a:ln w="12700">
            <a:solidFill>
              <a:srgbClr val="A855F7"/>
            </a:solidFill>
            <a:prstDash val="solid"/>
          </a:ln>
        </p:spPr>
      </p:sp>
      <p:sp>
        <p:nvSpPr>
          <p:cNvPr id="24" name="Text 22"/>
          <p:cNvSpPr/>
          <p:nvPr/>
        </p:nvSpPr>
        <p:spPr>
          <a:xfrm>
            <a:off x="3291840" y="3044952"/>
            <a:ext cx="2633472"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Joint Constraints</a:t>
            </a:r>
            <a:endParaRPr lang="en-US" sz="1100" dirty="0"/>
          </a:p>
        </p:txBody>
      </p:sp>
      <p:sp>
        <p:nvSpPr>
          <p:cNvPr id="25" name="Text 23"/>
          <p:cNvSpPr/>
          <p:nvPr/>
        </p:nvSpPr>
        <p:spPr>
          <a:xfrm>
            <a:off x="3310128" y="3346704"/>
            <a:ext cx="2606040" cy="1261872"/>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Real joints have angle limits. Every algorithm must clamp solutions within physical limits while still converging to the target.</a:t>
            </a:r>
            <a:endParaRPr lang="en-US" sz="1100" dirty="0"/>
          </a:p>
        </p:txBody>
      </p:sp>
      <p:sp>
        <p:nvSpPr>
          <p:cNvPr id="26" name="Shape 24"/>
          <p:cNvSpPr/>
          <p:nvPr/>
        </p:nvSpPr>
        <p:spPr>
          <a:xfrm>
            <a:off x="6163056" y="3044952"/>
            <a:ext cx="2788920" cy="1664208"/>
          </a:xfrm>
          <a:prstGeom prst="rect">
            <a:avLst/>
          </a:prstGeom>
          <a:solidFill>
            <a:srgbClr val="1C2233"/>
          </a:solidFill>
          <a:ln w="15240">
            <a:solidFill>
              <a:srgbClr val="EC4899"/>
            </a:solidFill>
            <a:prstDash val="solid"/>
          </a:ln>
          <a:effectLst>
            <a:outerShdw blurRad="101600" dist="38100" dir="8100000" algn="bl" rotWithShape="0">
              <a:srgbClr val="000000">
                <a:alpha val="25000"/>
              </a:srgbClr>
            </a:outerShdw>
          </a:effectLst>
        </p:spPr>
      </p:sp>
      <p:sp>
        <p:nvSpPr>
          <p:cNvPr id="27" name="Shape 25"/>
          <p:cNvSpPr/>
          <p:nvPr/>
        </p:nvSpPr>
        <p:spPr>
          <a:xfrm>
            <a:off x="6163056" y="3044952"/>
            <a:ext cx="2788920" cy="256032"/>
          </a:xfrm>
          <a:prstGeom prst="rect">
            <a:avLst/>
          </a:prstGeom>
          <a:solidFill>
            <a:srgbClr val="EC4899"/>
          </a:solidFill>
          <a:ln w="12700">
            <a:solidFill>
              <a:srgbClr val="EC4899"/>
            </a:solidFill>
            <a:prstDash val="solid"/>
          </a:ln>
        </p:spPr>
      </p:sp>
      <p:sp>
        <p:nvSpPr>
          <p:cNvPr id="28" name="Text 26"/>
          <p:cNvSpPr/>
          <p:nvPr/>
        </p:nvSpPr>
        <p:spPr>
          <a:xfrm>
            <a:off x="6236208" y="3044952"/>
            <a:ext cx="2633472"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Real-Time Demand</a:t>
            </a:r>
            <a:endParaRPr lang="en-US" sz="1100" dirty="0"/>
          </a:p>
        </p:txBody>
      </p:sp>
      <p:sp>
        <p:nvSpPr>
          <p:cNvPr id="29" name="Text 27"/>
          <p:cNvSpPr/>
          <p:nvPr/>
        </p:nvSpPr>
        <p:spPr>
          <a:xfrm>
            <a:off x="6254496" y="3346704"/>
            <a:ext cx="2606040" cy="1261872"/>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Animation and robotics require re-solving IK at 30–120 fps. Algorithms must be fast enough to run within a single frame budget.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w="12700">
            <a:solidFill>
              <a:srgbClr val="3B82F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Identifying Users &amp; Stakeholders</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1 — WHO NEEDS THIS TOOL?</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pic>
        <p:nvPicPr>
          <p:cNvPr id="6" name="Image 0" descr="/home/claude/robot_3d.jpg"/>
          <p:cNvPicPr>
            <a:picLocks noChangeAspect="1"/>
          </p:cNvPicPr>
          <p:nvPr/>
        </p:nvPicPr>
        <p:blipFill>
          <a:blip r:embed="rId3">
            <a:alphaModFix amt="45000"/>
          </a:blip>
          <a:srcRect/>
          <a:stretch/>
        </p:blipFill>
        <p:spPr>
          <a:xfrm>
            <a:off x="5760720" y="1188720"/>
            <a:ext cx="3108960" cy="3657600"/>
          </a:xfrm>
          <a:prstGeom prst="rect">
            <a:avLst/>
          </a:prstGeom>
        </p:spPr>
      </p:pic>
      <p:sp>
        <p:nvSpPr>
          <p:cNvPr id="7" name="Shape 4"/>
          <p:cNvSpPr/>
          <p:nvPr/>
        </p:nvSpPr>
        <p:spPr>
          <a:xfrm>
            <a:off x="274320" y="1261872"/>
            <a:ext cx="5303520" cy="804672"/>
          </a:xfrm>
          <a:prstGeom prst="rect">
            <a:avLst/>
          </a:prstGeom>
          <a:solidFill>
            <a:srgbClr val="1C2233"/>
          </a:solidFill>
          <a:ln w="19050">
            <a:solidFill>
              <a:srgbClr val="F97316"/>
            </a:solidFill>
            <a:prstDash val="solid"/>
          </a:ln>
        </p:spPr>
      </p:sp>
      <p:sp>
        <p:nvSpPr>
          <p:cNvPr id="8" name="Shape 5"/>
          <p:cNvSpPr/>
          <p:nvPr/>
        </p:nvSpPr>
        <p:spPr>
          <a:xfrm>
            <a:off x="274320" y="1261872"/>
            <a:ext cx="164592" cy="804672"/>
          </a:xfrm>
          <a:prstGeom prst="rect">
            <a:avLst/>
          </a:prstGeom>
          <a:solidFill>
            <a:srgbClr val="F97316"/>
          </a:solidFill>
          <a:ln w="12700">
            <a:solidFill>
              <a:srgbClr val="F97316"/>
            </a:solidFill>
            <a:prstDash val="solid"/>
          </a:ln>
        </p:spPr>
      </p:sp>
      <p:sp>
        <p:nvSpPr>
          <p:cNvPr id="9" name="Text 6"/>
          <p:cNvSpPr/>
          <p:nvPr/>
        </p:nvSpPr>
        <p:spPr>
          <a:xfrm>
            <a:off x="548640" y="1307592"/>
            <a:ext cx="493776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1. CS &amp; Engineering Students</a:t>
            </a:r>
            <a:endParaRPr lang="en-US" sz="1300" dirty="0"/>
          </a:p>
        </p:txBody>
      </p:sp>
      <p:sp>
        <p:nvSpPr>
          <p:cNvPr id="10" name="Text 7"/>
          <p:cNvSpPr/>
          <p:nvPr/>
        </p:nvSpPr>
        <p:spPr>
          <a:xfrm>
            <a:off x="548640" y="1581912"/>
            <a:ext cx="4937760" cy="402336"/>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Learning robotics, computer graphics, or mechatronics — need intuition before equations</a:t>
            </a:r>
            <a:endParaRPr lang="en-US" sz="1100" dirty="0"/>
          </a:p>
        </p:txBody>
      </p:sp>
      <p:sp>
        <p:nvSpPr>
          <p:cNvPr id="11" name="Shape 8"/>
          <p:cNvSpPr/>
          <p:nvPr/>
        </p:nvSpPr>
        <p:spPr>
          <a:xfrm>
            <a:off x="274320" y="2203704"/>
            <a:ext cx="5303520" cy="804672"/>
          </a:xfrm>
          <a:prstGeom prst="rect">
            <a:avLst/>
          </a:prstGeom>
          <a:solidFill>
            <a:srgbClr val="1C2233"/>
          </a:solidFill>
          <a:ln w="19050">
            <a:solidFill>
              <a:srgbClr val="3B82F6"/>
            </a:solidFill>
            <a:prstDash val="solid"/>
          </a:ln>
        </p:spPr>
      </p:sp>
      <p:sp>
        <p:nvSpPr>
          <p:cNvPr id="12" name="Shape 9"/>
          <p:cNvSpPr/>
          <p:nvPr/>
        </p:nvSpPr>
        <p:spPr>
          <a:xfrm>
            <a:off x="274320" y="2203704"/>
            <a:ext cx="164592" cy="804672"/>
          </a:xfrm>
          <a:prstGeom prst="rect">
            <a:avLst/>
          </a:prstGeom>
          <a:solidFill>
            <a:srgbClr val="3B82F6"/>
          </a:solidFill>
          <a:ln w="12700">
            <a:solidFill>
              <a:srgbClr val="3B82F6"/>
            </a:solidFill>
            <a:prstDash val="solid"/>
          </a:ln>
        </p:spPr>
      </p:sp>
      <p:sp>
        <p:nvSpPr>
          <p:cNvPr id="13" name="Text 10"/>
          <p:cNvSpPr/>
          <p:nvPr/>
        </p:nvSpPr>
        <p:spPr>
          <a:xfrm>
            <a:off x="548640" y="2249424"/>
            <a:ext cx="493776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2. Robotics Educators</a:t>
            </a:r>
            <a:endParaRPr lang="en-US" sz="1300" dirty="0"/>
          </a:p>
        </p:txBody>
      </p:sp>
      <p:sp>
        <p:nvSpPr>
          <p:cNvPr id="14" name="Text 11"/>
          <p:cNvSpPr/>
          <p:nvPr/>
        </p:nvSpPr>
        <p:spPr>
          <a:xfrm>
            <a:off x="548640" y="2523744"/>
            <a:ext cx="4937760" cy="402336"/>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Professors and instructors who need a live demo tool during lectures on kinematics</a:t>
            </a:r>
            <a:endParaRPr lang="en-US" sz="1100" dirty="0"/>
          </a:p>
        </p:txBody>
      </p:sp>
      <p:sp>
        <p:nvSpPr>
          <p:cNvPr id="15" name="Shape 12"/>
          <p:cNvSpPr/>
          <p:nvPr/>
        </p:nvSpPr>
        <p:spPr>
          <a:xfrm>
            <a:off x="274320" y="3145536"/>
            <a:ext cx="5303520" cy="804672"/>
          </a:xfrm>
          <a:prstGeom prst="rect">
            <a:avLst/>
          </a:prstGeom>
          <a:solidFill>
            <a:srgbClr val="1C2233"/>
          </a:solidFill>
          <a:ln w="19050">
            <a:solidFill>
              <a:srgbClr val="10B981"/>
            </a:solidFill>
            <a:prstDash val="solid"/>
          </a:ln>
        </p:spPr>
      </p:sp>
      <p:sp>
        <p:nvSpPr>
          <p:cNvPr id="16" name="Shape 13"/>
          <p:cNvSpPr/>
          <p:nvPr/>
        </p:nvSpPr>
        <p:spPr>
          <a:xfrm>
            <a:off x="274320" y="3145536"/>
            <a:ext cx="164592" cy="804672"/>
          </a:xfrm>
          <a:prstGeom prst="rect">
            <a:avLst/>
          </a:prstGeom>
          <a:solidFill>
            <a:srgbClr val="10B981"/>
          </a:solidFill>
          <a:ln w="12700">
            <a:solidFill>
              <a:srgbClr val="10B981"/>
            </a:solidFill>
            <a:prstDash val="solid"/>
          </a:ln>
        </p:spPr>
      </p:sp>
      <p:sp>
        <p:nvSpPr>
          <p:cNvPr id="17" name="Text 14"/>
          <p:cNvSpPr/>
          <p:nvPr/>
        </p:nvSpPr>
        <p:spPr>
          <a:xfrm>
            <a:off x="548640" y="3191256"/>
            <a:ext cx="493776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3. Game &amp; Animation Developers</a:t>
            </a:r>
            <a:endParaRPr lang="en-US" sz="1300" dirty="0"/>
          </a:p>
        </p:txBody>
      </p:sp>
      <p:sp>
        <p:nvSpPr>
          <p:cNvPr id="18" name="Text 15"/>
          <p:cNvSpPr/>
          <p:nvPr/>
        </p:nvSpPr>
        <p:spPr>
          <a:xfrm>
            <a:off x="548640" y="3465576"/>
            <a:ext cx="4937760" cy="402336"/>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Developers implementing IK for character rigs who need to compare algorithm trade-offs</a:t>
            </a:r>
            <a:endParaRPr lang="en-US" sz="1100" dirty="0"/>
          </a:p>
        </p:txBody>
      </p:sp>
      <p:sp>
        <p:nvSpPr>
          <p:cNvPr id="19" name="Shape 16"/>
          <p:cNvSpPr/>
          <p:nvPr/>
        </p:nvSpPr>
        <p:spPr>
          <a:xfrm>
            <a:off x="274320" y="4087368"/>
            <a:ext cx="5303520" cy="804672"/>
          </a:xfrm>
          <a:prstGeom prst="rect">
            <a:avLst/>
          </a:prstGeom>
          <a:solidFill>
            <a:srgbClr val="1C2233"/>
          </a:solidFill>
          <a:ln w="19050">
            <a:solidFill>
              <a:srgbClr val="A855F7"/>
            </a:solidFill>
            <a:prstDash val="solid"/>
          </a:ln>
        </p:spPr>
      </p:sp>
      <p:sp>
        <p:nvSpPr>
          <p:cNvPr id="20" name="Shape 17"/>
          <p:cNvSpPr/>
          <p:nvPr/>
        </p:nvSpPr>
        <p:spPr>
          <a:xfrm>
            <a:off x="274320" y="4087368"/>
            <a:ext cx="164592" cy="804672"/>
          </a:xfrm>
          <a:prstGeom prst="rect">
            <a:avLst/>
          </a:prstGeom>
          <a:solidFill>
            <a:srgbClr val="A855F7"/>
          </a:solidFill>
          <a:ln w="12700">
            <a:solidFill>
              <a:srgbClr val="A855F7"/>
            </a:solidFill>
            <a:prstDash val="solid"/>
          </a:ln>
        </p:spPr>
      </p:sp>
      <p:sp>
        <p:nvSpPr>
          <p:cNvPr id="21" name="Text 18"/>
          <p:cNvSpPr/>
          <p:nvPr/>
        </p:nvSpPr>
        <p:spPr>
          <a:xfrm>
            <a:off x="548640" y="4133088"/>
            <a:ext cx="493776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4. Robotics Researchers</a:t>
            </a:r>
            <a:endParaRPr lang="en-US" sz="1300" dirty="0"/>
          </a:p>
        </p:txBody>
      </p:sp>
      <p:sp>
        <p:nvSpPr>
          <p:cNvPr id="22" name="Text 19"/>
          <p:cNvSpPr/>
          <p:nvPr/>
        </p:nvSpPr>
        <p:spPr>
          <a:xfrm>
            <a:off x="548640" y="4407408"/>
            <a:ext cx="4937760" cy="402336"/>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Early-stage researchers prototyping new IK methods who need a quick visual sandbox</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w="12700">
            <a:solidFill>
              <a:srgbClr val="3B82F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Identifying User-Specific Problems</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1 — WHAT PAIN POINTS DO USERS HAVE?</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274320" y="1234440"/>
            <a:ext cx="2816352" cy="3566160"/>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7" name="Shape 5"/>
          <p:cNvSpPr/>
          <p:nvPr/>
        </p:nvSpPr>
        <p:spPr>
          <a:xfrm>
            <a:off x="274320" y="1234440"/>
            <a:ext cx="2816352" cy="320040"/>
          </a:xfrm>
          <a:prstGeom prst="rect">
            <a:avLst/>
          </a:prstGeom>
          <a:solidFill>
            <a:srgbClr val="F97316"/>
          </a:solidFill>
          <a:ln w="12700">
            <a:solidFill>
              <a:srgbClr val="F97316"/>
            </a:solidFill>
            <a:prstDash val="solid"/>
          </a:ln>
        </p:spPr>
      </p:sp>
      <p:sp>
        <p:nvSpPr>
          <p:cNvPr id="8" name="Text 6"/>
          <p:cNvSpPr/>
          <p:nvPr/>
        </p:nvSpPr>
        <p:spPr>
          <a:xfrm>
            <a:off x="365760" y="1234440"/>
            <a:ext cx="2633472"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Students</a:t>
            </a:r>
            <a:endParaRPr lang="en-US" sz="1400" dirty="0"/>
          </a:p>
        </p:txBody>
      </p:sp>
      <p:sp>
        <p:nvSpPr>
          <p:cNvPr id="9" name="Text 7"/>
          <p:cNvSpPr/>
          <p:nvPr/>
        </p:nvSpPr>
        <p:spPr>
          <a:xfrm>
            <a:off x="365760" y="1627632"/>
            <a:ext cx="2651760" cy="3017520"/>
          </a:xfrm>
          <a:prstGeom prst="rect">
            <a:avLst/>
          </a:prstGeom>
          <a:noFill/>
          <a:ln/>
        </p:spPr>
        <p:txBody>
          <a:bodyPr wrap="square" rtlCol="0" anchor="ctr"/>
          <a:lstStyle/>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Math appears as a 'black box' — equations without intuition</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No way to see what singularities look like in practice</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Can't compare algorithms side-by-side to understand trade-offs</a:t>
            </a:r>
            <a:endParaRPr lang="en-US" sz="1150" dirty="0"/>
          </a:p>
        </p:txBody>
      </p:sp>
      <p:sp>
        <p:nvSpPr>
          <p:cNvPr id="10" name="Shape 8"/>
          <p:cNvSpPr/>
          <p:nvPr/>
        </p:nvSpPr>
        <p:spPr>
          <a:xfrm>
            <a:off x="3227832" y="1234440"/>
            <a:ext cx="2816352" cy="3566160"/>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11" name="Shape 9"/>
          <p:cNvSpPr/>
          <p:nvPr/>
        </p:nvSpPr>
        <p:spPr>
          <a:xfrm>
            <a:off x="3227832" y="1234440"/>
            <a:ext cx="2816352" cy="320040"/>
          </a:xfrm>
          <a:prstGeom prst="rect">
            <a:avLst/>
          </a:prstGeom>
          <a:solidFill>
            <a:srgbClr val="3B82F6"/>
          </a:solidFill>
          <a:ln w="12700">
            <a:solidFill>
              <a:srgbClr val="3B82F6"/>
            </a:solidFill>
            <a:prstDash val="solid"/>
          </a:ln>
        </p:spPr>
      </p:sp>
      <p:sp>
        <p:nvSpPr>
          <p:cNvPr id="12" name="Text 10"/>
          <p:cNvSpPr/>
          <p:nvPr/>
        </p:nvSpPr>
        <p:spPr>
          <a:xfrm>
            <a:off x="3319272" y="1234440"/>
            <a:ext cx="2633472"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Educators</a:t>
            </a:r>
            <a:endParaRPr lang="en-US" sz="1400" dirty="0"/>
          </a:p>
        </p:txBody>
      </p:sp>
      <p:sp>
        <p:nvSpPr>
          <p:cNvPr id="13" name="Text 11"/>
          <p:cNvSpPr/>
          <p:nvPr/>
        </p:nvSpPr>
        <p:spPr>
          <a:xfrm>
            <a:off x="3319272" y="1627632"/>
            <a:ext cx="2651760" cy="3017520"/>
          </a:xfrm>
          <a:prstGeom prst="rect">
            <a:avLst/>
          </a:prstGeom>
          <a:noFill/>
          <a:ln/>
        </p:spPr>
        <p:txBody>
          <a:bodyPr wrap="square" rtlCol="0" anchor="ctr"/>
          <a:lstStyle/>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Static diagrams in textbooks fail to convey convergence dynamics</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No off-the-shelf interactive tool for live classroom demonstrations</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No tool that shows iteration count and convergence in real time</a:t>
            </a:r>
            <a:endParaRPr lang="en-US" sz="1150" dirty="0"/>
          </a:p>
        </p:txBody>
      </p:sp>
      <p:sp>
        <p:nvSpPr>
          <p:cNvPr id="14" name="Shape 12"/>
          <p:cNvSpPr/>
          <p:nvPr/>
        </p:nvSpPr>
        <p:spPr>
          <a:xfrm>
            <a:off x="6181344" y="1234440"/>
            <a:ext cx="2816352" cy="3566160"/>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15" name="Shape 13"/>
          <p:cNvSpPr/>
          <p:nvPr/>
        </p:nvSpPr>
        <p:spPr>
          <a:xfrm>
            <a:off x="6181344" y="1234440"/>
            <a:ext cx="2816352" cy="320040"/>
          </a:xfrm>
          <a:prstGeom prst="rect">
            <a:avLst/>
          </a:prstGeom>
          <a:solidFill>
            <a:srgbClr val="10B981"/>
          </a:solidFill>
          <a:ln w="12700">
            <a:solidFill>
              <a:srgbClr val="10B981"/>
            </a:solidFill>
            <a:prstDash val="solid"/>
          </a:ln>
        </p:spPr>
      </p:sp>
      <p:sp>
        <p:nvSpPr>
          <p:cNvPr id="16" name="Text 14"/>
          <p:cNvSpPr/>
          <p:nvPr/>
        </p:nvSpPr>
        <p:spPr>
          <a:xfrm>
            <a:off x="6272784" y="1234440"/>
            <a:ext cx="2633472" cy="32004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Developers</a:t>
            </a:r>
            <a:endParaRPr lang="en-US" sz="1400" dirty="0"/>
          </a:p>
        </p:txBody>
      </p:sp>
      <p:sp>
        <p:nvSpPr>
          <p:cNvPr id="17" name="Text 15"/>
          <p:cNvSpPr/>
          <p:nvPr/>
        </p:nvSpPr>
        <p:spPr>
          <a:xfrm>
            <a:off x="6272784" y="1627632"/>
            <a:ext cx="2651760" cy="3017520"/>
          </a:xfrm>
          <a:prstGeom prst="rect">
            <a:avLst/>
          </a:prstGeom>
          <a:noFill/>
          <a:ln/>
        </p:spPr>
        <p:txBody>
          <a:bodyPr wrap="square" rtlCol="0" anchor="ctr"/>
          <a:lstStyle/>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Hard to predict algorithm behavior at joint limits or near singularities</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No quick sandbox to prototype chain configurations without coding</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Debugging IK requires a visual — log output is insufficient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7316"/>
          </a:solidFill>
          <a:ln w="12700">
            <a:solidFill>
              <a:srgbClr val="F9731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Final Determination of the Problem to Be Solved</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1 — THE CORE PROBLEM STATEMENT</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274320" y="1234440"/>
            <a:ext cx="8595360" cy="1143000"/>
          </a:xfrm>
          <a:prstGeom prst="rect">
            <a:avLst/>
          </a:prstGeom>
          <a:solidFill>
            <a:srgbClr val="1C2233"/>
          </a:solidFill>
          <a:ln w="25400">
            <a:solidFill>
              <a:srgbClr val="F97316"/>
            </a:solidFill>
            <a:prstDash val="solid"/>
          </a:ln>
        </p:spPr>
      </p:sp>
      <p:sp>
        <p:nvSpPr>
          <p:cNvPr id="7" name="Shape 5"/>
          <p:cNvSpPr/>
          <p:nvPr/>
        </p:nvSpPr>
        <p:spPr>
          <a:xfrm>
            <a:off x="274320" y="1234440"/>
            <a:ext cx="201168" cy="1143000"/>
          </a:xfrm>
          <a:prstGeom prst="rect">
            <a:avLst/>
          </a:prstGeom>
          <a:solidFill>
            <a:srgbClr val="F97316"/>
          </a:solidFill>
          <a:ln w="12700">
            <a:solidFill>
              <a:srgbClr val="F97316"/>
            </a:solidFill>
            <a:prstDash val="solid"/>
          </a:ln>
        </p:spPr>
      </p:sp>
      <p:sp>
        <p:nvSpPr>
          <p:cNvPr id="8" name="Text 6"/>
          <p:cNvSpPr/>
          <p:nvPr/>
        </p:nvSpPr>
        <p:spPr>
          <a:xfrm>
            <a:off x="594360" y="1280160"/>
            <a:ext cx="8138160" cy="1051560"/>
          </a:xfrm>
          <a:prstGeom prst="rect">
            <a:avLst/>
          </a:prstGeom>
          <a:noFill/>
          <a:ln/>
        </p:spPr>
        <p:txBody>
          <a:bodyPr wrap="square" rtlCol="0" anchor="ctr"/>
          <a:lstStyle/>
          <a:p>
            <a:pPr marL="0" indent="0">
              <a:buNone/>
            </a:pPr>
            <a:r>
              <a:rPr lang="en-US" sz="1350" i="1" dirty="0">
                <a:solidFill>
                  <a:srgbClr val="FFFFFF"/>
                </a:solidFill>
                <a:latin typeface="Trebuchet MS" pitchFamily="34" charset="0"/>
                <a:ea typeface="Trebuchet MS" pitchFamily="34" charset="-122"/>
                <a:cs typeface="Trebuchet MS" pitchFamily="34" charset="-120"/>
              </a:rPr>
              <a:t>"There is no accessible, interactive tool that allows students, educators, and developers to visually observe, compare, and manipulate multiple IK algorithms in real time — making the mathematics of inverse kinematics unnecessarily opaque."</a:t>
            </a:r>
            <a:endParaRPr lang="en-US" sz="1350" dirty="0"/>
          </a:p>
        </p:txBody>
      </p:sp>
      <p:sp>
        <p:nvSpPr>
          <p:cNvPr id="9" name="Text 7"/>
          <p:cNvSpPr/>
          <p:nvPr/>
        </p:nvSpPr>
        <p:spPr>
          <a:xfrm>
            <a:off x="320040" y="2514600"/>
            <a:ext cx="8503920" cy="274320"/>
          </a:xfrm>
          <a:prstGeom prst="rect">
            <a:avLst/>
          </a:prstGeom>
          <a:noFill/>
          <a:ln/>
        </p:spPr>
        <p:txBody>
          <a:bodyPr wrap="square" lIns="0" tIns="0" rIns="0" bIns="0" rtlCol="0" anchor="ctr"/>
          <a:lstStyle/>
          <a:p>
            <a:pPr marL="0" indent="0">
              <a:buNone/>
            </a:pPr>
            <a:r>
              <a:rPr lang="en-US" sz="1300" b="1" dirty="0">
                <a:solidFill>
                  <a:srgbClr val="F97316"/>
                </a:solidFill>
                <a:latin typeface="Trebuchet MS" pitchFamily="34" charset="0"/>
                <a:ea typeface="Trebuchet MS" pitchFamily="34" charset="-122"/>
                <a:cs typeface="Trebuchet MS" pitchFamily="34" charset="-120"/>
              </a:rPr>
              <a:t>Therefore, the problem to solve is threefold:</a:t>
            </a:r>
            <a:endParaRPr lang="en-US" sz="1300" dirty="0"/>
          </a:p>
        </p:txBody>
      </p:sp>
      <p:sp>
        <p:nvSpPr>
          <p:cNvPr id="10" name="Shape 8"/>
          <p:cNvSpPr/>
          <p:nvPr/>
        </p:nvSpPr>
        <p:spPr>
          <a:xfrm>
            <a:off x="274320" y="2852928"/>
            <a:ext cx="384048" cy="576072"/>
          </a:xfrm>
          <a:prstGeom prst="rect">
            <a:avLst/>
          </a:prstGeom>
          <a:solidFill>
            <a:srgbClr val="F97316"/>
          </a:solidFill>
          <a:ln w="12700">
            <a:solidFill>
              <a:srgbClr val="F97316"/>
            </a:solidFill>
            <a:prstDash val="solid"/>
          </a:ln>
        </p:spPr>
      </p:sp>
      <p:sp>
        <p:nvSpPr>
          <p:cNvPr id="11" name="Text 9"/>
          <p:cNvSpPr/>
          <p:nvPr/>
        </p:nvSpPr>
        <p:spPr>
          <a:xfrm>
            <a:off x="274320" y="2852928"/>
            <a:ext cx="384048" cy="576072"/>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1</a:t>
            </a:r>
            <a:endParaRPr lang="en-US" sz="1800" dirty="0"/>
          </a:p>
        </p:txBody>
      </p:sp>
      <p:sp>
        <p:nvSpPr>
          <p:cNvPr id="12" name="Text 10"/>
          <p:cNvSpPr/>
          <p:nvPr/>
        </p:nvSpPr>
        <p:spPr>
          <a:xfrm>
            <a:off x="777240" y="2889504"/>
            <a:ext cx="8046720" cy="548640"/>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Visibility: </a:t>
            </a:r>
            <a:r>
              <a:rPr lang="en-US" sz="1150" dirty="0">
                <a:solidFill>
                  <a:srgbClr val="CBD5E1"/>
                </a:solidFill>
                <a:latin typeface="Trebuchet MS" pitchFamily="34" charset="0"/>
                <a:ea typeface="Trebuchet MS" pitchFamily="34" charset="-122"/>
                <a:cs typeface="Trebuchet MS" pitchFamily="34" charset="-120"/>
              </a:rPr>
              <a:t>Make IK algorithms visually transparent: show joint movement, convergence path, and iteration count in real time.</a:t>
            </a:r>
            <a:endParaRPr lang="en-US" sz="1150" dirty="0"/>
          </a:p>
        </p:txBody>
      </p:sp>
      <p:sp>
        <p:nvSpPr>
          <p:cNvPr id="13" name="Shape 11"/>
          <p:cNvSpPr/>
          <p:nvPr/>
        </p:nvSpPr>
        <p:spPr>
          <a:xfrm>
            <a:off x="274320" y="3520440"/>
            <a:ext cx="384048" cy="576072"/>
          </a:xfrm>
          <a:prstGeom prst="rect">
            <a:avLst/>
          </a:prstGeom>
          <a:solidFill>
            <a:srgbClr val="F97316"/>
          </a:solidFill>
          <a:ln w="12700">
            <a:solidFill>
              <a:srgbClr val="F97316"/>
            </a:solidFill>
            <a:prstDash val="solid"/>
          </a:ln>
        </p:spPr>
      </p:sp>
      <p:sp>
        <p:nvSpPr>
          <p:cNvPr id="14" name="Text 12"/>
          <p:cNvSpPr/>
          <p:nvPr/>
        </p:nvSpPr>
        <p:spPr>
          <a:xfrm>
            <a:off x="274320" y="3520440"/>
            <a:ext cx="384048" cy="576072"/>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2</a:t>
            </a:r>
            <a:endParaRPr lang="en-US" sz="1800" dirty="0"/>
          </a:p>
        </p:txBody>
      </p:sp>
      <p:sp>
        <p:nvSpPr>
          <p:cNvPr id="15" name="Text 13"/>
          <p:cNvSpPr/>
          <p:nvPr/>
        </p:nvSpPr>
        <p:spPr>
          <a:xfrm>
            <a:off x="777240" y="3557016"/>
            <a:ext cx="8046720" cy="548640"/>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Comparability: </a:t>
            </a:r>
            <a:r>
              <a:rPr lang="en-US" sz="1150" dirty="0">
                <a:solidFill>
                  <a:srgbClr val="CBD5E1"/>
                </a:solidFill>
                <a:latin typeface="Trebuchet MS" pitchFamily="34" charset="0"/>
                <a:ea typeface="Trebuchet MS" pitchFamily="34" charset="-122"/>
                <a:cs typeface="Trebuchet MS" pitchFamily="34" charset="-120"/>
              </a:rPr>
              <a:t>Let users switch between algorithms (FABRIK, CCD, Jacobian methods) on the same arm instantly, revealing trade-offs.</a:t>
            </a:r>
            <a:endParaRPr lang="en-US" sz="1150" dirty="0"/>
          </a:p>
        </p:txBody>
      </p:sp>
      <p:sp>
        <p:nvSpPr>
          <p:cNvPr id="16" name="Shape 14"/>
          <p:cNvSpPr/>
          <p:nvPr/>
        </p:nvSpPr>
        <p:spPr>
          <a:xfrm>
            <a:off x="274320" y="4187952"/>
            <a:ext cx="384048" cy="576072"/>
          </a:xfrm>
          <a:prstGeom prst="rect">
            <a:avLst/>
          </a:prstGeom>
          <a:solidFill>
            <a:srgbClr val="F97316"/>
          </a:solidFill>
          <a:ln w="12700">
            <a:solidFill>
              <a:srgbClr val="F97316"/>
            </a:solidFill>
            <a:prstDash val="solid"/>
          </a:ln>
        </p:spPr>
      </p:sp>
      <p:sp>
        <p:nvSpPr>
          <p:cNvPr id="17" name="Text 15"/>
          <p:cNvSpPr/>
          <p:nvPr/>
        </p:nvSpPr>
        <p:spPr>
          <a:xfrm>
            <a:off x="274320" y="4187952"/>
            <a:ext cx="384048" cy="576072"/>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3</a:t>
            </a:r>
            <a:endParaRPr lang="en-US" sz="1800" dirty="0"/>
          </a:p>
        </p:txBody>
      </p:sp>
      <p:sp>
        <p:nvSpPr>
          <p:cNvPr id="18" name="Text 16"/>
          <p:cNvSpPr/>
          <p:nvPr/>
        </p:nvSpPr>
        <p:spPr>
          <a:xfrm>
            <a:off x="777240" y="4224528"/>
            <a:ext cx="8046720" cy="548640"/>
          </a:xfrm>
          <a:prstGeom prst="rect">
            <a:avLst/>
          </a:prstGeom>
          <a:noFill/>
          <a:ln/>
        </p:spPr>
        <p:txBody>
          <a:bodyPr wrap="square" lIns="0" tIns="0" rIns="0" bIns="0" rtlCol="0" anchor="ctr"/>
          <a:lstStyle/>
          <a:p>
            <a:pPr marL="0" indent="0">
              <a:buNone/>
            </a:pPr>
            <a:r>
              <a:rPr lang="en-US" sz="1150" b="1" dirty="0">
                <a:solidFill>
                  <a:srgbClr val="FFFFFF"/>
                </a:solidFill>
                <a:latin typeface="Trebuchet MS" pitchFamily="34" charset="0"/>
                <a:ea typeface="Trebuchet MS" pitchFamily="34" charset="-122"/>
                <a:cs typeface="Trebuchet MS" pitchFamily="34" charset="-120"/>
              </a:rPr>
              <a:t>Interactivity: </a:t>
            </a:r>
            <a:r>
              <a:rPr lang="en-US" sz="1150" dirty="0">
                <a:solidFill>
                  <a:srgbClr val="CBD5E1"/>
                </a:solidFill>
                <a:latin typeface="Trebuchet MS" pitchFamily="34" charset="0"/>
                <a:ea typeface="Trebuchet MS" pitchFamily="34" charset="-122"/>
                <a:cs typeface="Trebuchet MS" pitchFamily="34" charset="-120"/>
              </a:rPr>
              <a:t>Give users direct manipulation — drag joints, pin/lock segments, set targets — to build physical intuition through experimentation.</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w="12700">
            <a:solidFill>
              <a:srgbClr val="3B82F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Theoretical Background: Forward Kinematics</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2 — THE MATHEMATICAL FOUNDATION</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Text 4"/>
          <p:cNvSpPr/>
          <p:nvPr/>
        </p:nvSpPr>
        <p:spPr>
          <a:xfrm>
            <a:off x="320040" y="1261872"/>
            <a:ext cx="4206240" cy="274320"/>
          </a:xfrm>
          <a:prstGeom prst="rect">
            <a:avLst/>
          </a:prstGeom>
          <a:noFill/>
          <a:ln/>
        </p:spPr>
        <p:txBody>
          <a:bodyPr wrap="square" lIns="0" tIns="0" rIns="0" bIns="0" rtlCol="0" anchor="ctr"/>
          <a:lstStyle/>
          <a:p>
            <a:pPr marL="0" indent="0">
              <a:buNone/>
            </a:pPr>
            <a:r>
              <a:rPr lang="en-US" sz="1400" b="1" dirty="0">
                <a:solidFill>
                  <a:srgbClr val="3B82F6"/>
                </a:solidFill>
                <a:latin typeface="Trebuchet MS" pitchFamily="34" charset="0"/>
                <a:ea typeface="Trebuchet MS" pitchFamily="34" charset="-122"/>
                <a:cs typeface="Trebuchet MS" pitchFamily="34" charset="-120"/>
              </a:rPr>
              <a:t>Building Blocks of FK</a:t>
            </a:r>
            <a:endParaRPr lang="en-US" sz="1400" dirty="0"/>
          </a:p>
        </p:txBody>
      </p:sp>
      <p:sp>
        <p:nvSpPr>
          <p:cNvPr id="7" name="Text 5"/>
          <p:cNvSpPr/>
          <p:nvPr/>
        </p:nvSpPr>
        <p:spPr>
          <a:xfrm>
            <a:off x="320040" y="1581912"/>
            <a:ext cx="420624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Kinematic Chain:</a:t>
            </a:r>
            <a:endParaRPr lang="en-US" sz="1200" dirty="0"/>
          </a:p>
        </p:txBody>
      </p:sp>
      <p:sp>
        <p:nvSpPr>
          <p:cNvPr id="8" name="Text 6"/>
          <p:cNvSpPr/>
          <p:nvPr/>
        </p:nvSpPr>
        <p:spPr>
          <a:xfrm>
            <a:off x="320040" y="1819656"/>
            <a:ext cx="4206240" cy="50292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A series of rigid links connected by joints. Each joint has one degree of freedom (rotation in 2D).</a:t>
            </a:r>
            <a:endParaRPr lang="en-US" sz="1100" dirty="0"/>
          </a:p>
        </p:txBody>
      </p:sp>
      <p:sp>
        <p:nvSpPr>
          <p:cNvPr id="9" name="Text 7"/>
          <p:cNvSpPr/>
          <p:nvPr/>
        </p:nvSpPr>
        <p:spPr>
          <a:xfrm>
            <a:off x="320040" y="2423160"/>
            <a:ext cx="420624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Transformation Matrices:</a:t>
            </a:r>
            <a:endParaRPr lang="en-US" sz="1200" dirty="0"/>
          </a:p>
        </p:txBody>
      </p:sp>
      <p:sp>
        <p:nvSpPr>
          <p:cNvPr id="10" name="Text 8"/>
          <p:cNvSpPr/>
          <p:nvPr/>
        </p:nvSpPr>
        <p:spPr>
          <a:xfrm>
            <a:off x="320040" y="2660904"/>
            <a:ext cx="4206240" cy="50292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Each joint applies a rotation matrix T(θ) and a translation by link length L. Composed left-to-right along the chain.</a:t>
            </a:r>
            <a:endParaRPr lang="en-US" sz="1100" dirty="0"/>
          </a:p>
        </p:txBody>
      </p:sp>
      <p:sp>
        <p:nvSpPr>
          <p:cNvPr id="11" name="Text 9"/>
          <p:cNvSpPr/>
          <p:nvPr/>
        </p:nvSpPr>
        <p:spPr>
          <a:xfrm>
            <a:off x="320040" y="3264408"/>
            <a:ext cx="420624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Degrees of Freedom (DOF):</a:t>
            </a:r>
            <a:endParaRPr lang="en-US" sz="1200" dirty="0"/>
          </a:p>
        </p:txBody>
      </p:sp>
      <p:sp>
        <p:nvSpPr>
          <p:cNvPr id="12" name="Text 10"/>
          <p:cNvSpPr/>
          <p:nvPr/>
        </p:nvSpPr>
        <p:spPr>
          <a:xfrm>
            <a:off x="320040" y="3502152"/>
            <a:ext cx="4206240" cy="50292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Number of independent parameters controlling the chain. A 2D n-joint arm has n DOF.</a:t>
            </a:r>
            <a:endParaRPr lang="en-US" sz="1100" dirty="0"/>
          </a:p>
        </p:txBody>
      </p:sp>
      <p:sp>
        <p:nvSpPr>
          <p:cNvPr id="13" name="Text 11"/>
          <p:cNvSpPr/>
          <p:nvPr/>
        </p:nvSpPr>
        <p:spPr>
          <a:xfrm>
            <a:off x="320040" y="4105656"/>
            <a:ext cx="4206240" cy="22860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End-Effector Position:</a:t>
            </a:r>
            <a:endParaRPr lang="en-US" sz="1200" dirty="0"/>
          </a:p>
        </p:txBody>
      </p:sp>
      <p:sp>
        <p:nvSpPr>
          <p:cNvPr id="14" name="Text 12"/>
          <p:cNvSpPr/>
          <p:nvPr/>
        </p:nvSpPr>
        <p:spPr>
          <a:xfrm>
            <a:off x="320040" y="4343400"/>
            <a:ext cx="4206240" cy="50292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The final accumulated transform gives the tip position: P_end = T₁ · T₂ · … · Tₙ · origin.</a:t>
            </a:r>
            <a:endParaRPr lang="en-US" sz="1100" dirty="0"/>
          </a:p>
        </p:txBody>
      </p:sp>
      <p:sp>
        <p:nvSpPr>
          <p:cNvPr id="15" name="Shape 13"/>
          <p:cNvSpPr/>
          <p:nvPr/>
        </p:nvSpPr>
        <p:spPr>
          <a:xfrm>
            <a:off x="4663440" y="1261872"/>
            <a:ext cx="4206240" cy="3538728"/>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16" name="Text 14"/>
          <p:cNvSpPr/>
          <p:nvPr/>
        </p:nvSpPr>
        <p:spPr>
          <a:xfrm>
            <a:off x="4754880" y="1371600"/>
            <a:ext cx="4023360" cy="256032"/>
          </a:xfrm>
          <a:prstGeom prst="rect">
            <a:avLst/>
          </a:prstGeom>
          <a:noFill/>
          <a:ln/>
        </p:spPr>
        <p:txBody>
          <a:bodyPr wrap="square" lIns="0" tIns="0" rIns="0" bIns="0" rtlCol="0" anchor="ctr"/>
          <a:lstStyle/>
          <a:p>
            <a:pPr marL="0" indent="0">
              <a:buNone/>
            </a:pPr>
            <a:r>
              <a:rPr lang="en-US" sz="1200" b="1" dirty="0">
                <a:solidFill>
                  <a:srgbClr val="3B82F6"/>
                </a:solidFill>
                <a:latin typeface="Trebuchet MS" pitchFamily="34" charset="0"/>
                <a:ea typeface="Trebuchet MS" pitchFamily="34" charset="-122"/>
                <a:cs typeface="Trebuchet MS" pitchFamily="34" charset="-120"/>
              </a:rPr>
              <a:t>2D Rotation Matrix</a:t>
            </a:r>
            <a:endParaRPr lang="en-US" sz="1200" dirty="0"/>
          </a:p>
        </p:txBody>
      </p:sp>
      <p:sp>
        <p:nvSpPr>
          <p:cNvPr id="17" name="Text 15"/>
          <p:cNvSpPr/>
          <p:nvPr/>
        </p:nvSpPr>
        <p:spPr>
          <a:xfrm>
            <a:off x="4754880" y="1664208"/>
            <a:ext cx="4023360" cy="68580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R(θ) =  [ cos θ   −sin θ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 sin θ    cos θ ]</a:t>
            </a:r>
            <a:endParaRPr lang="en-US" sz="1200" dirty="0"/>
          </a:p>
        </p:txBody>
      </p:sp>
      <p:sp>
        <p:nvSpPr>
          <p:cNvPr id="18" name="Text 16"/>
          <p:cNvSpPr/>
          <p:nvPr/>
        </p:nvSpPr>
        <p:spPr>
          <a:xfrm>
            <a:off x="4754880" y="2423160"/>
            <a:ext cx="4023360" cy="256032"/>
          </a:xfrm>
          <a:prstGeom prst="rect">
            <a:avLst/>
          </a:prstGeom>
          <a:noFill/>
          <a:ln/>
        </p:spPr>
        <p:txBody>
          <a:bodyPr wrap="square" lIns="0" tIns="0" rIns="0" bIns="0" rtlCol="0" anchor="ctr"/>
          <a:lstStyle/>
          <a:p>
            <a:pPr marL="0" indent="0">
              <a:buNone/>
            </a:pPr>
            <a:r>
              <a:rPr lang="en-US" sz="1200" b="1" dirty="0">
                <a:solidFill>
                  <a:srgbClr val="3B82F6"/>
                </a:solidFill>
                <a:latin typeface="Trebuchet MS" pitchFamily="34" charset="0"/>
                <a:ea typeface="Trebuchet MS" pitchFamily="34" charset="-122"/>
                <a:cs typeface="Trebuchet MS" pitchFamily="34" charset="-120"/>
              </a:rPr>
              <a:t>Homogeneous Transform (per joint i)</a:t>
            </a:r>
            <a:endParaRPr lang="en-US" sz="1200" dirty="0"/>
          </a:p>
        </p:txBody>
      </p:sp>
      <p:sp>
        <p:nvSpPr>
          <p:cNvPr id="19" name="Text 17"/>
          <p:cNvSpPr/>
          <p:nvPr/>
        </p:nvSpPr>
        <p:spPr>
          <a:xfrm>
            <a:off x="4754880" y="2706624"/>
            <a:ext cx="4023360" cy="6400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Tᵢ(θᵢ) = [ R(θᵢ)   Lᵢ · x̂ ]</a:t>
            </a:r>
            <a:endParaRPr lang="en-US" sz="1200" dirty="0"/>
          </a:p>
          <a:p>
            <a:pPr marL="0" indent="0">
              <a:buNone/>
            </a:pPr>
            <a:r>
              <a:rPr lang="en-US" sz="1200" dirty="0">
                <a:solidFill>
                  <a:srgbClr val="FFFFFF"/>
                </a:solidFill>
                <a:latin typeface="Consolas" pitchFamily="34" charset="0"/>
                <a:ea typeface="Consolas" pitchFamily="34" charset="-122"/>
                <a:cs typeface="Consolas" pitchFamily="34" charset="-120"/>
              </a:rPr>
              <a:t>           [  0        1    ]</a:t>
            </a:r>
            <a:endParaRPr lang="en-US" sz="1200" dirty="0"/>
          </a:p>
        </p:txBody>
      </p:sp>
      <p:sp>
        <p:nvSpPr>
          <p:cNvPr id="20" name="Text 18"/>
          <p:cNvSpPr/>
          <p:nvPr/>
        </p:nvSpPr>
        <p:spPr>
          <a:xfrm>
            <a:off x="4754880" y="3410712"/>
            <a:ext cx="4023360" cy="256032"/>
          </a:xfrm>
          <a:prstGeom prst="rect">
            <a:avLst/>
          </a:prstGeom>
          <a:noFill/>
          <a:ln/>
        </p:spPr>
        <p:txBody>
          <a:bodyPr wrap="square" lIns="0" tIns="0" rIns="0" bIns="0" rtlCol="0" anchor="ctr"/>
          <a:lstStyle/>
          <a:p>
            <a:pPr marL="0" indent="0">
              <a:buNone/>
            </a:pPr>
            <a:r>
              <a:rPr lang="en-US" sz="1200" b="1" dirty="0">
                <a:solidFill>
                  <a:srgbClr val="3B82F6"/>
                </a:solidFill>
                <a:latin typeface="Trebuchet MS" pitchFamily="34" charset="0"/>
                <a:ea typeface="Trebuchet MS" pitchFamily="34" charset="-122"/>
                <a:cs typeface="Trebuchet MS" pitchFamily="34" charset="-120"/>
              </a:rPr>
              <a:t>Full FK Computation</a:t>
            </a:r>
            <a:endParaRPr lang="en-US" sz="1200" dirty="0"/>
          </a:p>
        </p:txBody>
      </p:sp>
      <p:sp>
        <p:nvSpPr>
          <p:cNvPr id="21" name="Text 19"/>
          <p:cNvSpPr/>
          <p:nvPr/>
        </p:nvSpPr>
        <p:spPr>
          <a:xfrm>
            <a:off x="4754880" y="3694176"/>
            <a:ext cx="4023360" cy="41148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P_end = T₁(θ₁) · T₂(θ₂) · … · Tₙ(θₙ) · p₀</a:t>
            </a:r>
            <a:endParaRPr lang="en-US" sz="1200" dirty="0"/>
          </a:p>
        </p:txBody>
      </p:sp>
      <p:sp>
        <p:nvSpPr>
          <p:cNvPr id="22" name="Text 20"/>
          <p:cNvSpPr/>
          <p:nvPr/>
        </p:nvSpPr>
        <p:spPr>
          <a:xfrm>
            <a:off x="4754880" y="4206240"/>
            <a:ext cx="4023360" cy="457200"/>
          </a:xfrm>
          <a:prstGeom prst="rect">
            <a:avLst/>
          </a:prstGeom>
          <a:noFill/>
          <a:ln/>
        </p:spPr>
        <p:txBody>
          <a:bodyPr wrap="square" rtlCol="0" anchor="ctr"/>
          <a:lstStyle/>
          <a:p>
            <a:pPr marL="0" indent="0">
              <a:buNone/>
            </a:pPr>
            <a:r>
              <a:rPr lang="en-US" sz="1100" i="1" dirty="0">
                <a:solidFill>
                  <a:srgbClr val="CBD5E1"/>
                </a:solidFill>
                <a:latin typeface="Trebuchet MS" pitchFamily="34" charset="0"/>
                <a:ea typeface="Trebuchet MS" pitchFamily="34" charset="-122"/>
                <a:cs typeface="Trebuchet MS" pitchFamily="34" charset="-120"/>
              </a:rPr>
              <a:t>FK is cheap, deterministic, always used as</a:t>
            </a:r>
            <a:endParaRPr lang="en-US" sz="1100" dirty="0"/>
          </a:p>
          <a:p>
            <a:pPr marL="0" indent="0">
              <a:buNone/>
            </a:pPr>
            <a:r>
              <a:rPr lang="en-US" sz="1100" i="1" dirty="0">
                <a:solidFill>
                  <a:srgbClr val="CBD5E1"/>
                </a:solidFill>
                <a:latin typeface="Trebuchet MS" pitchFamily="34" charset="0"/>
                <a:ea typeface="Trebuchet MS" pitchFamily="34" charset="-122"/>
                <a:cs typeface="Trebuchet MS" pitchFamily="34" charset="-120"/>
              </a:rPr>
              <a:t>the final verification step after IK converges.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w="12700">
            <a:solidFill>
              <a:srgbClr val="3B82F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Theoretical Background: The Jacobian Matrix</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2 — RELATING JOINT VELOCITIES TO END-EFFECTOR VELOCITIES</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Text 4"/>
          <p:cNvSpPr/>
          <p:nvPr/>
        </p:nvSpPr>
        <p:spPr>
          <a:xfrm>
            <a:off x="320040" y="1261872"/>
            <a:ext cx="4572000" cy="274320"/>
          </a:xfrm>
          <a:prstGeom prst="rect">
            <a:avLst/>
          </a:prstGeom>
          <a:noFill/>
          <a:ln/>
        </p:spPr>
        <p:txBody>
          <a:bodyPr wrap="square" lIns="0" tIns="0" rIns="0" bIns="0" rtlCol="0" anchor="ctr"/>
          <a:lstStyle/>
          <a:p>
            <a:pPr marL="0" indent="0">
              <a:buNone/>
            </a:pPr>
            <a:r>
              <a:rPr lang="en-US" sz="1400" b="1" dirty="0">
                <a:solidFill>
                  <a:srgbClr val="3B82F6"/>
                </a:solidFill>
                <a:latin typeface="Trebuchet MS" pitchFamily="34" charset="0"/>
                <a:ea typeface="Trebuchet MS" pitchFamily="34" charset="-122"/>
                <a:cs typeface="Trebuchet MS" pitchFamily="34" charset="-120"/>
              </a:rPr>
              <a:t>What is the Jacobian?</a:t>
            </a:r>
            <a:endParaRPr lang="en-US" sz="1400" dirty="0"/>
          </a:p>
        </p:txBody>
      </p:sp>
      <p:sp>
        <p:nvSpPr>
          <p:cNvPr id="7" name="Text 5"/>
          <p:cNvSpPr/>
          <p:nvPr/>
        </p:nvSpPr>
        <p:spPr>
          <a:xfrm>
            <a:off x="320040" y="1572768"/>
            <a:ext cx="4572000" cy="502920"/>
          </a:xfrm>
          <a:prstGeom prst="rect">
            <a:avLst/>
          </a:prstGeom>
          <a:noFill/>
          <a:ln/>
        </p:spPr>
        <p:txBody>
          <a:bodyPr wrap="square" rtlCol="0" anchor="ctr"/>
          <a:lstStyle/>
          <a:p>
            <a:pPr marL="0" indent="0">
              <a:buNone/>
            </a:pPr>
            <a:r>
              <a:rPr lang="en-US" sz="1200" dirty="0">
                <a:solidFill>
                  <a:srgbClr val="CBD5E1"/>
                </a:solidFill>
                <a:latin typeface="Trebuchet MS" pitchFamily="34" charset="0"/>
                <a:ea typeface="Trebuchet MS" pitchFamily="34" charset="-122"/>
                <a:cs typeface="Trebuchet MS" pitchFamily="34" charset="-120"/>
              </a:rPr>
              <a:t>The Jacobian J is a matrix of partial derivatives that maps joint angle velocities (θ̇) to end-effector velocities (ẋ).</a:t>
            </a:r>
            <a:endParaRPr lang="en-US" sz="1200" dirty="0"/>
          </a:p>
        </p:txBody>
      </p:sp>
      <p:sp>
        <p:nvSpPr>
          <p:cNvPr id="8" name="Shape 6"/>
          <p:cNvSpPr/>
          <p:nvPr/>
        </p:nvSpPr>
        <p:spPr>
          <a:xfrm>
            <a:off x="320040" y="2148840"/>
            <a:ext cx="4572000" cy="685800"/>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9" name="Text 7"/>
          <p:cNvSpPr/>
          <p:nvPr/>
        </p:nvSpPr>
        <p:spPr>
          <a:xfrm>
            <a:off x="457200" y="2212848"/>
            <a:ext cx="4297680" cy="502920"/>
          </a:xfrm>
          <a:prstGeom prst="rect">
            <a:avLst/>
          </a:prstGeom>
          <a:noFill/>
          <a:ln/>
        </p:spPr>
        <p:txBody>
          <a:bodyPr wrap="square" rtlCol="0" anchor="ctr"/>
          <a:lstStyle/>
          <a:p>
            <a:pPr marL="0" indent="0" algn="ctr">
              <a:buNone/>
            </a:pPr>
            <a:r>
              <a:rPr lang="en-US" sz="2200" b="1" dirty="0">
                <a:solidFill>
                  <a:srgbClr val="FFFFFF"/>
                </a:solidFill>
                <a:latin typeface="Consolas" pitchFamily="34" charset="0"/>
                <a:ea typeface="Consolas" pitchFamily="34" charset="-122"/>
                <a:cs typeface="Consolas" pitchFamily="34" charset="-120"/>
              </a:rPr>
              <a:t>ẋ = J(θ) · θ̇</a:t>
            </a:r>
            <a:endParaRPr lang="en-US" sz="2200" dirty="0"/>
          </a:p>
        </p:txBody>
      </p:sp>
      <p:sp>
        <p:nvSpPr>
          <p:cNvPr id="10" name="Text 8"/>
          <p:cNvSpPr/>
          <p:nvPr/>
        </p:nvSpPr>
        <p:spPr>
          <a:xfrm>
            <a:off x="320040" y="2944368"/>
            <a:ext cx="4572000" cy="548640"/>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Each column of J is the partial derivative of the end-effector position with respect to one joint angle. In 2D with n joints:</a:t>
            </a:r>
            <a:endParaRPr lang="en-US" sz="1100" dirty="0"/>
          </a:p>
        </p:txBody>
      </p:sp>
      <p:sp>
        <p:nvSpPr>
          <p:cNvPr id="11" name="Text 9"/>
          <p:cNvSpPr/>
          <p:nvPr/>
        </p:nvSpPr>
        <p:spPr>
          <a:xfrm>
            <a:off x="320040" y="3493008"/>
            <a:ext cx="4572000" cy="320040"/>
          </a:xfrm>
          <a:prstGeom prst="rect">
            <a:avLst/>
          </a:prstGeom>
          <a:noFill/>
          <a:ln/>
        </p:spPr>
        <p:txBody>
          <a:bodyPr wrap="square" rtlCol="0" anchor="ctr"/>
          <a:lstStyle/>
          <a:p>
            <a:pPr marL="0" indent="0">
              <a:buNone/>
            </a:pPr>
            <a:r>
              <a:rPr lang="en-US" sz="1200" dirty="0">
                <a:solidFill>
                  <a:srgbClr val="FFFFFF"/>
                </a:solidFill>
                <a:latin typeface="Consolas" pitchFamily="34" charset="0"/>
                <a:ea typeface="Consolas" pitchFamily="34" charset="-122"/>
                <a:cs typeface="Consolas" pitchFamily="34" charset="-120"/>
              </a:rPr>
              <a:t>J[:, i] = ∂P_end / ∂θᵢ  =  zᵢ × (P_end − Pᵢ)</a:t>
            </a:r>
            <a:endParaRPr lang="en-US" sz="1200" dirty="0"/>
          </a:p>
        </p:txBody>
      </p:sp>
      <p:sp>
        <p:nvSpPr>
          <p:cNvPr id="12" name="Text 10"/>
          <p:cNvSpPr/>
          <p:nvPr/>
        </p:nvSpPr>
        <p:spPr>
          <a:xfrm>
            <a:off x="320040" y="3840480"/>
            <a:ext cx="4572000" cy="411480"/>
          </a:xfrm>
          <a:prstGeom prst="rect">
            <a:avLst/>
          </a:prstGeom>
          <a:noFill/>
          <a:ln/>
        </p:spPr>
        <p:txBody>
          <a:bodyPr wrap="square" rtlCol="0" anchor="ctr"/>
          <a:lstStyle/>
          <a:p>
            <a:pPr marL="0" indent="0">
              <a:buNone/>
            </a:pPr>
            <a:r>
              <a:rPr lang="en-US" sz="1100" i="1" dirty="0">
                <a:solidFill>
                  <a:srgbClr val="CBD5E1"/>
                </a:solidFill>
                <a:latin typeface="Trebuchet MS" pitchFamily="34" charset="0"/>
                <a:ea typeface="Trebuchet MS" pitchFamily="34" charset="-122"/>
                <a:cs typeface="Trebuchet MS" pitchFamily="34" charset="-120"/>
              </a:rPr>
              <a:t>where zᵢ is the joint axis (in 2D: [0, 0, 1]) and Pᵢ is joint i's position.</a:t>
            </a:r>
            <a:endParaRPr lang="en-US" sz="1100" dirty="0"/>
          </a:p>
        </p:txBody>
      </p:sp>
      <p:sp>
        <p:nvSpPr>
          <p:cNvPr id="13" name="Shape 11"/>
          <p:cNvSpPr/>
          <p:nvPr/>
        </p:nvSpPr>
        <p:spPr>
          <a:xfrm>
            <a:off x="5074920" y="1261872"/>
            <a:ext cx="3794760" cy="3538728"/>
          </a:xfrm>
          <a:prstGeom prst="rect">
            <a:avLst/>
          </a:prstGeom>
          <a:solidFill>
            <a:srgbClr val="1C2233"/>
          </a:solidFill>
          <a:ln w="15240">
            <a:solidFill>
              <a:srgbClr val="EF4444"/>
            </a:solidFill>
            <a:prstDash val="solid"/>
          </a:ln>
          <a:effectLst>
            <a:outerShdw blurRad="101600" dist="38100" dir="8100000" algn="bl" rotWithShape="0">
              <a:srgbClr val="000000">
                <a:alpha val="25000"/>
              </a:srgbClr>
            </a:outerShdw>
          </a:effectLst>
        </p:spPr>
      </p:sp>
      <p:sp>
        <p:nvSpPr>
          <p:cNvPr id="14" name="Shape 12"/>
          <p:cNvSpPr/>
          <p:nvPr/>
        </p:nvSpPr>
        <p:spPr>
          <a:xfrm>
            <a:off x="5074920" y="1261872"/>
            <a:ext cx="3794760" cy="292608"/>
          </a:xfrm>
          <a:prstGeom prst="rect">
            <a:avLst/>
          </a:prstGeom>
          <a:solidFill>
            <a:srgbClr val="EF4444"/>
          </a:solidFill>
          <a:ln w="12700">
            <a:solidFill>
              <a:srgbClr val="EF4444"/>
            </a:solidFill>
            <a:prstDash val="solid"/>
          </a:ln>
        </p:spPr>
      </p:sp>
      <p:sp>
        <p:nvSpPr>
          <p:cNvPr id="15" name="Text 13"/>
          <p:cNvSpPr/>
          <p:nvPr/>
        </p:nvSpPr>
        <p:spPr>
          <a:xfrm>
            <a:off x="5166360" y="1261872"/>
            <a:ext cx="3611880" cy="292608"/>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  SINGULARITIES</a:t>
            </a:r>
            <a:endParaRPr lang="en-US" sz="1300" dirty="0"/>
          </a:p>
        </p:txBody>
      </p:sp>
      <p:sp>
        <p:nvSpPr>
          <p:cNvPr id="16" name="Text 14"/>
          <p:cNvSpPr/>
          <p:nvPr/>
        </p:nvSpPr>
        <p:spPr>
          <a:xfrm>
            <a:off x="5166360" y="1627632"/>
            <a:ext cx="3566160" cy="3090672"/>
          </a:xfrm>
          <a:prstGeom prst="rect">
            <a:avLst/>
          </a:prstGeom>
          <a:noFill/>
          <a:ln/>
        </p:spPr>
        <p:txBody>
          <a:bodyPr wrap="square" rtlCol="0" anchor="ctr"/>
          <a:lstStyle/>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When det(J) = 0, the arm loses a degree of freedom</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Jacobian becomes rank-deficient — not invertible</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End-effector can no longer move in certain directions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Naive algorithms produce infinite velocities (blow up!)</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Occur when arm is fully extended or fully folded back on itself</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Damped Least Squares (DLS) is the standard fix: adds λI to avoid division by near-zero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w="12700">
            <a:solidFill>
              <a:srgbClr val="3B82F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Algorithms: Jacobian-Based Methods</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3 — THE ALGORITHM ENGINE</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228600" y="1234440"/>
            <a:ext cx="2834640" cy="3639312"/>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7" name="Shape 5"/>
          <p:cNvSpPr/>
          <p:nvPr/>
        </p:nvSpPr>
        <p:spPr>
          <a:xfrm>
            <a:off x="228600" y="1234440"/>
            <a:ext cx="2834640" cy="320040"/>
          </a:xfrm>
          <a:prstGeom prst="rect">
            <a:avLst/>
          </a:prstGeom>
          <a:solidFill>
            <a:srgbClr val="3B82F6"/>
          </a:solidFill>
          <a:ln w="12700">
            <a:solidFill>
              <a:srgbClr val="3B82F6"/>
            </a:solidFill>
            <a:prstDash val="solid"/>
          </a:ln>
        </p:spPr>
      </p:sp>
      <p:sp>
        <p:nvSpPr>
          <p:cNvPr id="8" name="Text 6"/>
          <p:cNvSpPr/>
          <p:nvPr/>
        </p:nvSpPr>
        <p:spPr>
          <a:xfrm>
            <a:off x="301752" y="1234440"/>
            <a:ext cx="26974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Jacobian Transpose</a:t>
            </a:r>
            <a:endParaRPr lang="en-US" sz="1200" dirty="0"/>
          </a:p>
        </p:txBody>
      </p:sp>
      <p:sp>
        <p:nvSpPr>
          <p:cNvPr id="9" name="Text 7"/>
          <p:cNvSpPr/>
          <p:nvPr/>
        </p:nvSpPr>
        <p:spPr>
          <a:xfrm>
            <a:off x="301752" y="1600200"/>
            <a:ext cx="2697480" cy="228600"/>
          </a:xfrm>
          <a:prstGeom prst="rect">
            <a:avLst/>
          </a:prstGeom>
          <a:noFill/>
          <a:ln/>
        </p:spPr>
        <p:txBody>
          <a:bodyPr wrap="square" lIns="0" tIns="0" rIns="0" bIns="0" rtlCol="0" anchor="ctr"/>
          <a:lstStyle/>
          <a:p>
            <a:pPr marL="0" indent="0">
              <a:buNone/>
            </a:pPr>
            <a:r>
              <a:rPr lang="en-US" sz="1000" i="1" dirty="0">
                <a:solidFill>
                  <a:srgbClr val="3B82F6"/>
                </a:solidFill>
                <a:latin typeface="Trebuchet MS" pitchFamily="34" charset="0"/>
                <a:ea typeface="Trebuchet MS" pitchFamily="34" charset="-122"/>
                <a:cs typeface="Trebuchet MS" pitchFamily="34" charset="-120"/>
              </a:rPr>
              <a:t>Simple &amp; Robust</a:t>
            </a:r>
            <a:endParaRPr lang="en-US" sz="1000" dirty="0"/>
          </a:p>
        </p:txBody>
      </p:sp>
      <p:sp>
        <p:nvSpPr>
          <p:cNvPr id="10" name="Text 8"/>
          <p:cNvSpPr/>
          <p:nvPr/>
        </p:nvSpPr>
        <p:spPr>
          <a:xfrm>
            <a:off x="301752" y="1874520"/>
            <a:ext cx="2697480" cy="1783080"/>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Uses Jᵀ instead of J⁻¹. No matrix inversion required. Slow convergence — oscillates near target. Good first baseline. Update: Δθ = α · Jᵀ · Δx</a:t>
            </a:r>
            <a:endParaRPr lang="en-US" sz="1100" dirty="0"/>
          </a:p>
        </p:txBody>
      </p:sp>
      <p:sp>
        <p:nvSpPr>
          <p:cNvPr id="11" name="Shape 9"/>
          <p:cNvSpPr/>
          <p:nvPr/>
        </p:nvSpPr>
        <p:spPr>
          <a:xfrm>
            <a:off x="301752" y="3867912"/>
            <a:ext cx="2697480" cy="13716"/>
          </a:xfrm>
          <a:prstGeom prst="rect">
            <a:avLst/>
          </a:prstGeom>
          <a:solidFill>
            <a:srgbClr val="1E293B"/>
          </a:solidFill>
          <a:ln w="12700">
            <a:solidFill>
              <a:srgbClr val="1E293B"/>
            </a:solidFill>
            <a:prstDash val="solid"/>
          </a:ln>
        </p:spPr>
      </p:sp>
      <p:sp>
        <p:nvSpPr>
          <p:cNvPr id="12" name="Text 10"/>
          <p:cNvSpPr/>
          <p:nvPr/>
        </p:nvSpPr>
        <p:spPr>
          <a:xfrm>
            <a:off x="301752" y="3959352"/>
            <a:ext cx="2697480" cy="201168"/>
          </a:xfrm>
          <a:prstGeom prst="rect">
            <a:avLst/>
          </a:prstGeom>
          <a:noFill/>
          <a:ln/>
        </p:spPr>
        <p:txBody>
          <a:bodyPr wrap="square" lIns="0" tIns="0" rIns="0" bIns="0" rtlCol="0" anchor="ctr"/>
          <a:lstStyle/>
          <a:p>
            <a:pPr marL="0" indent="0">
              <a:buNone/>
            </a:pPr>
            <a:r>
              <a:rPr lang="en-US" sz="1000" dirty="0">
                <a:solidFill>
                  <a:srgbClr val="10B981"/>
                </a:solidFill>
                <a:latin typeface="Trebuchet MS" pitchFamily="34" charset="0"/>
                <a:ea typeface="Trebuchet MS" pitchFamily="34" charset="-122"/>
                <a:cs typeface="Trebuchet MS" pitchFamily="34" charset="-120"/>
              </a:rPr>
              <a:t>✔ Never diverges</a:t>
            </a:r>
            <a:endParaRPr lang="en-US" sz="1000" dirty="0"/>
          </a:p>
        </p:txBody>
      </p:sp>
      <p:sp>
        <p:nvSpPr>
          <p:cNvPr id="13" name="Text 11"/>
          <p:cNvSpPr/>
          <p:nvPr/>
        </p:nvSpPr>
        <p:spPr>
          <a:xfrm>
            <a:off x="301752" y="4178808"/>
            <a:ext cx="2697480" cy="201168"/>
          </a:xfrm>
          <a:prstGeom prst="rect">
            <a:avLst/>
          </a:prstGeom>
          <a:noFill/>
          <a:ln/>
        </p:spPr>
        <p:txBody>
          <a:bodyPr wrap="square" lIns="0" tIns="0" rIns="0" bIns="0" rtlCol="0" anchor="ctr"/>
          <a:lstStyle/>
          <a:p>
            <a:pPr marL="0" indent="0">
              <a:buNone/>
            </a:pPr>
            <a:r>
              <a:rPr lang="en-US" sz="1000" dirty="0">
                <a:solidFill>
                  <a:srgbClr val="EF4444"/>
                </a:solidFill>
                <a:latin typeface="Trebuchet MS" pitchFamily="34" charset="0"/>
                <a:ea typeface="Trebuchet MS" pitchFamily="34" charset="-122"/>
                <a:cs typeface="Trebuchet MS" pitchFamily="34" charset="-120"/>
              </a:rPr>
              <a:t>✘ Slow convergence, oscillates</a:t>
            </a:r>
            <a:endParaRPr lang="en-US" sz="1000" dirty="0"/>
          </a:p>
        </p:txBody>
      </p:sp>
      <p:sp>
        <p:nvSpPr>
          <p:cNvPr id="14" name="Shape 12"/>
          <p:cNvSpPr/>
          <p:nvPr/>
        </p:nvSpPr>
        <p:spPr>
          <a:xfrm>
            <a:off x="3200400" y="1234440"/>
            <a:ext cx="2834640" cy="3639312"/>
          </a:xfrm>
          <a:prstGeom prst="rect">
            <a:avLst/>
          </a:prstGeom>
          <a:solidFill>
            <a:srgbClr val="1C2233"/>
          </a:solidFill>
          <a:ln w="15240">
            <a:solidFill>
              <a:srgbClr val="A855F7"/>
            </a:solidFill>
            <a:prstDash val="solid"/>
          </a:ln>
          <a:effectLst>
            <a:outerShdw blurRad="101600" dist="38100" dir="8100000" algn="bl" rotWithShape="0">
              <a:srgbClr val="000000">
                <a:alpha val="25000"/>
              </a:srgbClr>
            </a:outerShdw>
          </a:effectLst>
        </p:spPr>
      </p:sp>
      <p:sp>
        <p:nvSpPr>
          <p:cNvPr id="15" name="Shape 13"/>
          <p:cNvSpPr/>
          <p:nvPr/>
        </p:nvSpPr>
        <p:spPr>
          <a:xfrm>
            <a:off x="3200400" y="1234440"/>
            <a:ext cx="2834640" cy="320040"/>
          </a:xfrm>
          <a:prstGeom prst="rect">
            <a:avLst/>
          </a:prstGeom>
          <a:solidFill>
            <a:srgbClr val="A855F7"/>
          </a:solidFill>
          <a:ln w="12700">
            <a:solidFill>
              <a:srgbClr val="A855F7"/>
            </a:solidFill>
            <a:prstDash val="solid"/>
          </a:ln>
        </p:spPr>
      </p:sp>
      <p:sp>
        <p:nvSpPr>
          <p:cNvPr id="16" name="Text 14"/>
          <p:cNvSpPr/>
          <p:nvPr/>
        </p:nvSpPr>
        <p:spPr>
          <a:xfrm>
            <a:off x="3273552" y="1234440"/>
            <a:ext cx="26974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Moore-Penrose Pseudoinverse</a:t>
            </a:r>
            <a:endParaRPr lang="en-US" sz="1200" dirty="0"/>
          </a:p>
        </p:txBody>
      </p:sp>
      <p:sp>
        <p:nvSpPr>
          <p:cNvPr id="17" name="Text 15"/>
          <p:cNvSpPr/>
          <p:nvPr/>
        </p:nvSpPr>
        <p:spPr>
          <a:xfrm>
            <a:off x="3273552" y="1600200"/>
            <a:ext cx="2697480" cy="228600"/>
          </a:xfrm>
          <a:prstGeom prst="rect">
            <a:avLst/>
          </a:prstGeom>
          <a:noFill/>
          <a:ln/>
        </p:spPr>
        <p:txBody>
          <a:bodyPr wrap="square" lIns="0" tIns="0" rIns="0" bIns="0" rtlCol="0" anchor="ctr"/>
          <a:lstStyle/>
          <a:p>
            <a:pPr marL="0" indent="0">
              <a:buNone/>
            </a:pPr>
            <a:r>
              <a:rPr lang="en-US" sz="1000" i="1" dirty="0">
                <a:solidFill>
                  <a:srgbClr val="A855F7"/>
                </a:solidFill>
                <a:latin typeface="Trebuchet MS" pitchFamily="34" charset="0"/>
                <a:ea typeface="Trebuchet MS" pitchFamily="34" charset="-122"/>
                <a:cs typeface="Trebuchet MS" pitchFamily="34" charset="-120"/>
              </a:rPr>
              <a:t>Least Squares Solution</a:t>
            </a:r>
            <a:endParaRPr lang="en-US" sz="1000" dirty="0"/>
          </a:p>
        </p:txBody>
      </p:sp>
      <p:sp>
        <p:nvSpPr>
          <p:cNvPr id="18" name="Text 16"/>
          <p:cNvSpPr/>
          <p:nvPr/>
        </p:nvSpPr>
        <p:spPr>
          <a:xfrm>
            <a:off x="3273552" y="1874520"/>
            <a:ext cx="2697480" cy="1783080"/>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Computes J⁺ = Jᵀ(JJᵀ)⁻¹ — the least squares solution that minimizes joint velocity. Accurate but unstable near singularities where JJᵀ → singular.</a:t>
            </a:r>
            <a:endParaRPr lang="en-US" sz="1100" dirty="0"/>
          </a:p>
        </p:txBody>
      </p:sp>
      <p:sp>
        <p:nvSpPr>
          <p:cNvPr id="19" name="Shape 17"/>
          <p:cNvSpPr/>
          <p:nvPr/>
        </p:nvSpPr>
        <p:spPr>
          <a:xfrm>
            <a:off x="3273552" y="3867912"/>
            <a:ext cx="2697480" cy="13716"/>
          </a:xfrm>
          <a:prstGeom prst="rect">
            <a:avLst/>
          </a:prstGeom>
          <a:solidFill>
            <a:srgbClr val="1E293B"/>
          </a:solidFill>
          <a:ln w="12700">
            <a:solidFill>
              <a:srgbClr val="1E293B"/>
            </a:solidFill>
            <a:prstDash val="solid"/>
          </a:ln>
        </p:spPr>
      </p:sp>
      <p:sp>
        <p:nvSpPr>
          <p:cNvPr id="20" name="Text 18"/>
          <p:cNvSpPr/>
          <p:nvPr/>
        </p:nvSpPr>
        <p:spPr>
          <a:xfrm>
            <a:off x="3273552" y="3959352"/>
            <a:ext cx="2697480" cy="201168"/>
          </a:xfrm>
          <a:prstGeom prst="rect">
            <a:avLst/>
          </a:prstGeom>
          <a:noFill/>
          <a:ln/>
        </p:spPr>
        <p:txBody>
          <a:bodyPr wrap="square" lIns="0" tIns="0" rIns="0" bIns="0" rtlCol="0" anchor="ctr"/>
          <a:lstStyle/>
          <a:p>
            <a:pPr marL="0" indent="0">
              <a:buNone/>
            </a:pPr>
            <a:r>
              <a:rPr lang="en-US" sz="1000" dirty="0">
                <a:solidFill>
                  <a:srgbClr val="10B981"/>
                </a:solidFill>
                <a:latin typeface="Trebuchet MS" pitchFamily="34" charset="0"/>
                <a:ea typeface="Trebuchet MS" pitchFamily="34" charset="-122"/>
                <a:cs typeface="Trebuchet MS" pitchFamily="34" charset="-120"/>
              </a:rPr>
              <a:t>✔ Optimal joint velocities</a:t>
            </a:r>
            <a:endParaRPr lang="en-US" sz="1000" dirty="0"/>
          </a:p>
        </p:txBody>
      </p:sp>
      <p:sp>
        <p:nvSpPr>
          <p:cNvPr id="21" name="Text 19"/>
          <p:cNvSpPr/>
          <p:nvPr/>
        </p:nvSpPr>
        <p:spPr>
          <a:xfrm>
            <a:off x="3273552" y="4178808"/>
            <a:ext cx="2697480" cy="201168"/>
          </a:xfrm>
          <a:prstGeom prst="rect">
            <a:avLst/>
          </a:prstGeom>
          <a:noFill/>
          <a:ln/>
        </p:spPr>
        <p:txBody>
          <a:bodyPr wrap="square" lIns="0" tIns="0" rIns="0" bIns="0" rtlCol="0" anchor="ctr"/>
          <a:lstStyle/>
          <a:p>
            <a:pPr marL="0" indent="0">
              <a:buNone/>
            </a:pPr>
            <a:r>
              <a:rPr lang="en-US" sz="1000" dirty="0">
                <a:solidFill>
                  <a:srgbClr val="EF4444"/>
                </a:solidFill>
                <a:latin typeface="Trebuchet MS" pitchFamily="34" charset="0"/>
                <a:ea typeface="Trebuchet MS" pitchFamily="34" charset="-122"/>
                <a:cs typeface="Trebuchet MS" pitchFamily="34" charset="-120"/>
              </a:rPr>
              <a:t>✘ Blows up at singularities</a:t>
            </a:r>
            <a:endParaRPr lang="en-US" sz="1000" dirty="0"/>
          </a:p>
        </p:txBody>
      </p:sp>
      <p:sp>
        <p:nvSpPr>
          <p:cNvPr id="22" name="Shape 20"/>
          <p:cNvSpPr/>
          <p:nvPr/>
        </p:nvSpPr>
        <p:spPr>
          <a:xfrm>
            <a:off x="6172200" y="1234440"/>
            <a:ext cx="2834640" cy="3639312"/>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23" name="Shape 21"/>
          <p:cNvSpPr/>
          <p:nvPr/>
        </p:nvSpPr>
        <p:spPr>
          <a:xfrm>
            <a:off x="6172200" y="1234440"/>
            <a:ext cx="2834640" cy="320040"/>
          </a:xfrm>
          <a:prstGeom prst="rect">
            <a:avLst/>
          </a:prstGeom>
          <a:solidFill>
            <a:srgbClr val="10B981"/>
          </a:solidFill>
          <a:ln w="12700">
            <a:solidFill>
              <a:srgbClr val="10B981"/>
            </a:solidFill>
            <a:prstDash val="solid"/>
          </a:ln>
        </p:spPr>
      </p:sp>
      <p:sp>
        <p:nvSpPr>
          <p:cNvPr id="24" name="Text 22"/>
          <p:cNvSpPr/>
          <p:nvPr/>
        </p:nvSpPr>
        <p:spPr>
          <a:xfrm>
            <a:off x="6245352" y="1234440"/>
            <a:ext cx="269748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Damped Least Squares (DLS)</a:t>
            </a:r>
            <a:endParaRPr lang="en-US" sz="1200" dirty="0"/>
          </a:p>
        </p:txBody>
      </p:sp>
      <p:sp>
        <p:nvSpPr>
          <p:cNvPr id="25" name="Text 23"/>
          <p:cNvSpPr/>
          <p:nvPr/>
        </p:nvSpPr>
        <p:spPr>
          <a:xfrm>
            <a:off x="6245352" y="1600200"/>
            <a:ext cx="2697480" cy="228600"/>
          </a:xfrm>
          <a:prstGeom prst="rect">
            <a:avLst/>
          </a:prstGeom>
          <a:noFill/>
          <a:ln/>
        </p:spPr>
        <p:txBody>
          <a:bodyPr wrap="square" lIns="0" tIns="0" rIns="0" bIns="0" rtlCol="0" anchor="ctr"/>
          <a:lstStyle/>
          <a:p>
            <a:pPr marL="0" indent="0">
              <a:buNone/>
            </a:pPr>
            <a:r>
              <a:rPr lang="en-US" sz="1000" i="1" dirty="0">
                <a:solidFill>
                  <a:srgbClr val="10B981"/>
                </a:solidFill>
                <a:latin typeface="Trebuchet MS" pitchFamily="34" charset="0"/>
                <a:ea typeface="Trebuchet MS" pitchFamily="34" charset="-122"/>
                <a:cs typeface="Trebuchet MS" pitchFamily="34" charset="-120"/>
              </a:rPr>
              <a:t>Industry Standard</a:t>
            </a:r>
            <a:endParaRPr lang="en-US" sz="1000" dirty="0"/>
          </a:p>
        </p:txBody>
      </p:sp>
      <p:sp>
        <p:nvSpPr>
          <p:cNvPr id="26" name="Text 24"/>
          <p:cNvSpPr/>
          <p:nvPr/>
        </p:nvSpPr>
        <p:spPr>
          <a:xfrm>
            <a:off x="6245352" y="1874520"/>
            <a:ext cx="2697480" cy="1783080"/>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J⁺_DLS = Jᵀ(JJᵀ + λ²I)⁻¹. The damping factor λ prevents instability near singularities by adding a small bias. Best real-world convergence.</a:t>
            </a:r>
            <a:endParaRPr lang="en-US" sz="1100" dirty="0"/>
          </a:p>
        </p:txBody>
      </p:sp>
      <p:sp>
        <p:nvSpPr>
          <p:cNvPr id="27" name="Shape 25"/>
          <p:cNvSpPr/>
          <p:nvPr/>
        </p:nvSpPr>
        <p:spPr>
          <a:xfrm>
            <a:off x="6245352" y="3867912"/>
            <a:ext cx="2697480" cy="13716"/>
          </a:xfrm>
          <a:prstGeom prst="rect">
            <a:avLst/>
          </a:prstGeom>
          <a:solidFill>
            <a:srgbClr val="1E293B"/>
          </a:solidFill>
          <a:ln w="12700">
            <a:solidFill>
              <a:srgbClr val="1E293B"/>
            </a:solidFill>
            <a:prstDash val="solid"/>
          </a:ln>
        </p:spPr>
      </p:sp>
      <p:sp>
        <p:nvSpPr>
          <p:cNvPr id="28" name="Text 26"/>
          <p:cNvSpPr/>
          <p:nvPr/>
        </p:nvSpPr>
        <p:spPr>
          <a:xfrm>
            <a:off x="6245352" y="3959352"/>
            <a:ext cx="2697480" cy="201168"/>
          </a:xfrm>
          <a:prstGeom prst="rect">
            <a:avLst/>
          </a:prstGeom>
          <a:noFill/>
          <a:ln/>
        </p:spPr>
        <p:txBody>
          <a:bodyPr wrap="square" lIns="0" tIns="0" rIns="0" bIns="0" rtlCol="0" anchor="ctr"/>
          <a:lstStyle/>
          <a:p>
            <a:pPr marL="0" indent="0">
              <a:buNone/>
            </a:pPr>
            <a:r>
              <a:rPr lang="en-US" sz="1000" dirty="0">
                <a:solidFill>
                  <a:srgbClr val="10B981"/>
                </a:solidFill>
                <a:latin typeface="Trebuchet MS" pitchFamily="34" charset="0"/>
                <a:ea typeface="Trebuchet MS" pitchFamily="34" charset="-122"/>
                <a:cs typeface="Trebuchet MS" pitchFamily="34" charset="-120"/>
              </a:rPr>
              <a:t>✔ Stable near singularities</a:t>
            </a:r>
            <a:endParaRPr lang="en-US" sz="1000" dirty="0"/>
          </a:p>
        </p:txBody>
      </p:sp>
      <p:sp>
        <p:nvSpPr>
          <p:cNvPr id="29" name="Text 27"/>
          <p:cNvSpPr/>
          <p:nvPr/>
        </p:nvSpPr>
        <p:spPr>
          <a:xfrm>
            <a:off x="6245352" y="4178808"/>
            <a:ext cx="2697480" cy="201168"/>
          </a:xfrm>
          <a:prstGeom prst="rect">
            <a:avLst/>
          </a:prstGeom>
          <a:noFill/>
          <a:ln/>
        </p:spPr>
        <p:txBody>
          <a:bodyPr wrap="square" lIns="0" tIns="0" rIns="0" bIns="0" rtlCol="0" anchor="ctr"/>
          <a:lstStyle/>
          <a:p>
            <a:pPr marL="0" indent="0">
              <a:buNone/>
            </a:pPr>
            <a:r>
              <a:rPr lang="en-US" sz="1000" dirty="0">
                <a:solidFill>
                  <a:srgbClr val="EF4444"/>
                </a:solidFill>
                <a:latin typeface="Trebuchet MS" pitchFamily="34" charset="0"/>
                <a:ea typeface="Trebuchet MS" pitchFamily="34" charset="-122"/>
                <a:cs typeface="Trebuchet MS" pitchFamily="34" charset="-120"/>
              </a:rPr>
              <a:t>✘ Trades accuracy for stability</a:t>
            </a:r>
            <a:endParaRPr lang="en-US" sz="1000" dirty="0"/>
          </a:p>
        </p:txBody>
      </p:sp>
      <p:sp>
        <p:nvSpPr>
          <p:cNvPr id="30" name="Text 28"/>
          <p:cNvSpPr/>
          <p:nvPr/>
        </p:nvSpPr>
        <p:spPr>
          <a:xfrm>
            <a:off x="274320" y="4919472"/>
            <a:ext cx="8595360" cy="201168"/>
          </a:xfrm>
          <a:prstGeom prst="rect">
            <a:avLst/>
          </a:prstGeom>
          <a:noFill/>
          <a:ln/>
        </p:spPr>
        <p:txBody>
          <a:bodyPr wrap="square" lIns="0" tIns="0" rIns="0" bIns="0" rtlCol="0" anchor="ctr"/>
          <a:lstStyle/>
          <a:p>
            <a:pPr marL="0" indent="0">
              <a:buNone/>
            </a:pPr>
            <a:r>
              <a:rPr lang="en-US" sz="1100" i="1" dirty="0">
                <a:solidFill>
                  <a:srgbClr val="64748B"/>
                </a:solidFill>
                <a:latin typeface="Trebuchet MS" pitchFamily="34" charset="0"/>
                <a:ea typeface="Trebuchet MS" pitchFamily="34" charset="-122"/>
                <a:cs typeface="Trebuchet MS" pitchFamily="34" charset="-120"/>
              </a:rPr>
              <a:t>All three are implemented in the Algorithm Engine. Users can switch between them with a single click and observe the behavioral differences live.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0B981"/>
          </a:solidFill>
          <a:ln w="12700">
            <a:solidFill>
              <a:srgbClr val="10B981"/>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Algorithms: FABRIK &amp; CCD (Heuristic Methods)</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3 — THE ALGORITHM ENGINE</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228600" y="1261872"/>
            <a:ext cx="4251960" cy="3630168"/>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7" name="Shape 5"/>
          <p:cNvSpPr/>
          <p:nvPr/>
        </p:nvSpPr>
        <p:spPr>
          <a:xfrm>
            <a:off x="228600" y="1261872"/>
            <a:ext cx="4251960" cy="320040"/>
          </a:xfrm>
          <a:prstGeom prst="rect">
            <a:avLst/>
          </a:prstGeom>
          <a:solidFill>
            <a:srgbClr val="10B981"/>
          </a:solidFill>
          <a:ln w="12700">
            <a:solidFill>
              <a:srgbClr val="10B981"/>
            </a:solidFill>
            <a:prstDash val="solid"/>
          </a:ln>
        </p:spPr>
      </p:sp>
      <p:sp>
        <p:nvSpPr>
          <p:cNvPr id="8" name="Text 6"/>
          <p:cNvSpPr/>
          <p:nvPr/>
        </p:nvSpPr>
        <p:spPr>
          <a:xfrm>
            <a:off x="320040" y="1261872"/>
            <a:ext cx="406908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FABRIK</a:t>
            </a:r>
            <a:endParaRPr lang="en-US" sz="1500" dirty="0"/>
          </a:p>
        </p:txBody>
      </p:sp>
      <p:sp>
        <p:nvSpPr>
          <p:cNvPr id="9" name="Text 7"/>
          <p:cNvSpPr/>
          <p:nvPr/>
        </p:nvSpPr>
        <p:spPr>
          <a:xfrm>
            <a:off x="320040" y="1618488"/>
            <a:ext cx="4069080" cy="201168"/>
          </a:xfrm>
          <a:prstGeom prst="rect">
            <a:avLst/>
          </a:prstGeom>
          <a:noFill/>
          <a:ln/>
        </p:spPr>
        <p:txBody>
          <a:bodyPr wrap="square" lIns="0" tIns="0" rIns="0" bIns="0" rtlCol="0" anchor="ctr"/>
          <a:lstStyle/>
          <a:p>
            <a:pPr marL="0" indent="0">
              <a:buNone/>
            </a:pPr>
            <a:r>
              <a:rPr lang="en-US" sz="1000" i="1" dirty="0">
                <a:solidFill>
                  <a:srgbClr val="10B981"/>
                </a:solidFill>
                <a:latin typeface="Trebuchet MS" pitchFamily="34" charset="0"/>
                <a:ea typeface="Trebuchet MS" pitchFamily="34" charset="-122"/>
                <a:cs typeface="Trebuchet MS" pitchFamily="34" charset="-120"/>
              </a:rPr>
              <a:t>Forward And Backward Reaching IK</a:t>
            </a:r>
            <a:endParaRPr lang="en-US" sz="1000" dirty="0"/>
          </a:p>
        </p:txBody>
      </p:sp>
      <p:sp>
        <p:nvSpPr>
          <p:cNvPr id="10" name="Text 8"/>
          <p:cNvSpPr/>
          <p:nvPr/>
        </p:nvSpPr>
        <p:spPr>
          <a:xfrm>
            <a:off x="320040" y="1874520"/>
            <a:ext cx="4069080" cy="2148840"/>
          </a:xfrm>
          <a:prstGeom prst="rect">
            <a:avLst/>
          </a:prstGeom>
          <a:noFill/>
          <a:ln/>
        </p:spPr>
        <p:txBody>
          <a:bodyPr wrap="square" rtlCol="0" anchor="ctr"/>
          <a:lstStyle/>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Operates purely on vectors — no matrices or trig</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Backward pass: snap tip to target, pull each joint back</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Forward pass: re-root base, push joints outward</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Repeat until end-effector within tolerance ε of target</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Fast convergence — typically 5–10 iterations</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Handles joint constraints, multiple end-effectors, and sub-chains</a:t>
            </a:r>
            <a:endParaRPr lang="en-US" sz="1150" dirty="0"/>
          </a:p>
        </p:txBody>
      </p:sp>
      <p:sp>
        <p:nvSpPr>
          <p:cNvPr id="11" name="Text 9"/>
          <p:cNvSpPr/>
          <p:nvPr/>
        </p:nvSpPr>
        <p:spPr>
          <a:xfrm>
            <a:off x="320040" y="4114800"/>
            <a:ext cx="4069080" cy="640080"/>
          </a:xfrm>
          <a:prstGeom prst="rect">
            <a:avLst/>
          </a:prstGeom>
          <a:noFill/>
          <a:ln/>
        </p:spPr>
        <p:txBody>
          <a:bodyPr wrap="square" rtlCol="0" anchor="ctr"/>
          <a:lstStyle/>
          <a:p>
            <a:pPr marL="0" indent="0">
              <a:buNone/>
            </a:pPr>
            <a:r>
              <a:rPr lang="en-US" sz="1050" i="1" dirty="0">
                <a:solidFill>
                  <a:srgbClr val="64748B"/>
                </a:solidFill>
                <a:latin typeface="Trebuchet MS" pitchFamily="34" charset="0"/>
                <a:ea typeface="Trebuchet MS" pitchFamily="34" charset="-122"/>
                <a:cs typeface="Trebuchet MS" pitchFamily="34" charset="-120"/>
              </a:rPr>
              <a:t>Our fabrik.py implementation is already written and uses this exact backward/forward cycle.</a:t>
            </a:r>
            <a:endParaRPr lang="en-US" sz="1050" dirty="0"/>
          </a:p>
        </p:txBody>
      </p:sp>
      <p:sp>
        <p:nvSpPr>
          <p:cNvPr id="12" name="Shape 10"/>
          <p:cNvSpPr/>
          <p:nvPr/>
        </p:nvSpPr>
        <p:spPr>
          <a:xfrm>
            <a:off x="4663440" y="1261872"/>
            <a:ext cx="4206240" cy="3630168"/>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13" name="Shape 11"/>
          <p:cNvSpPr/>
          <p:nvPr/>
        </p:nvSpPr>
        <p:spPr>
          <a:xfrm>
            <a:off x="4663440" y="1261872"/>
            <a:ext cx="4206240" cy="320040"/>
          </a:xfrm>
          <a:prstGeom prst="rect">
            <a:avLst/>
          </a:prstGeom>
          <a:solidFill>
            <a:srgbClr val="F97316"/>
          </a:solidFill>
          <a:ln w="12700">
            <a:solidFill>
              <a:srgbClr val="F97316"/>
            </a:solidFill>
            <a:prstDash val="solid"/>
          </a:ln>
        </p:spPr>
      </p:sp>
      <p:sp>
        <p:nvSpPr>
          <p:cNvPr id="14" name="Text 12"/>
          <p:cNvSpPr/>
          <p:nvPr/>
        </p:nvSpPr>
        <p:spPr>
          <a:xfrm>
            <a:off x="4754880" y="1261872"/>
            <a:ext cx="4023360" cy="320040"/>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CCD</a:t>
            </a:r>
            <a:endParaRPr lang="en-US" sz="1500" dirty="0"/>
          </a:p>
        </p:txBody>
      </p:sp>
      <p:sp>
        <p:nvSpPr>
          <p:cNvPr id="15" name="Text 13"/>
          <p:cNvSpPr/>
          <p:nvPr/>
        </p:nvSpPr>
        <p:spPr>
          <a:xfrm>
            <a:off x="4754880" y="1618488"/>
            <a:ext cx="4023360" cy="201168"/>
          </a:xfrm>
          <a:prstGeom prst="rect">
            <a:avLst/>
          </a:prstGeom>
          <a:noFill/>
          <a:ln/>
        </p:spPr>
        <p:txBody>
          <a:bodyPr wrap="square" lIns="0" tIns="0" rIns="0" bIns="0" rtlCol="0" anchor="ctr"/>
          <a:lstStyle/>
          <a:p>
            <a:pPr marL="0" indent="0">
              <a:buNone/>
            </a:pPr>
            <a:r>
              <a:rPr lang="en-US" sz="1000" i="1" dirty="0">
                <a:solidFill>
                  <a:srgbClr val="F97316"/>
                </a:solidFill>
                <a:latin typeface="Trebuchet MS" pitchFamily="34" charset="0"/>
                <a:ea typeface="Trebuchet MS" pitchFamily="34" charset="-122"/>
                <a:cs typeface="Trebuchet MS" pitchFamily="34" charset="-120"/>
              </a:rPr>
              <a:t>Cyclic Coordinate Descent</a:t>
            </a:r>
            <a:endParaRPr lang="en-US" sz="1000" dirty="0"/>
          </a:p>
        </p:txBody>
      </p:sp>
      <p:sp>
        <p:nvSpPr>
          <p:cNvPr id="16" name="Text 14"/>
          <p:cNvSpPr/>
          <p:nvPr/>
        </p:nvSpPr>
        <p:spPr>
          <a:xfrm>
            <a:off x="4754880" y="1874520"/>
            <a:ext cx="4023360" cy="2148840"/>
          </a:xfrm>
          <a:prstGeom prst="rect">
            <a:avLst/>
          </a:prstGeom>
          <a:noFill/>
          <a:ln/>
        </p:spPr>
        <p:txBody>
          <a:bodyPr wrap="square" rtlCol="0" anchor="ctr"/>
          <a:lstStyle/>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Processes joints one-at-a-time from end to base</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For each joint: rotate to point directly at target</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Apply angle clamping to enforce joint limits per step</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Repeat full cycle until convergence</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Slower convergence than FABRIK, more iterations needed</a:t>
            </a:r>
            <a:endParaRPr lang="en-US" sz="1150" dirty="0"/>
          </a:p>
          <a:p>
            <a:pPr marL="342900" indent="-342900">
              <a:buSzPct val="100000"/>
              <a:buChar char="•"/>
            </a:pPr>
            <a:r>
              <a:rPr lang="en-US" sz="1150" dirty="0">
                <a:solidFill>
                  <a:srgbClr val="CBD5E1"/>
                </a:solidFill>
                <a:latin typeface="Trebuchet MS" pitchFamily="34" charset="0"/>
                <a:ea typeface="Trebuchet MS" pitchFamily="34" charset="-122"/>
                <a:cs typeface="Trebuchet MS" pitchFamily="34" charset="-120"/>
              </a:rPr>
              <a:t>Naturally handles per-joint angle limits with clamping</a:t>
            </a:r>
            <a:endParaRPr lang="en-US" sz="1150" dirty="0"/>
          </a:p>
        </p:txBody>
      </p:sp>
      <p:sp>
        <p:nvSpPr>
          <p:cNvPr id="17" name="Text 15"/>
          <p:cNvSpPr/>
          <p:nvPr/>
        </p:nvSpPr>
        <p:spPr>
          <a:xfrm>
            <a:off x="4754880" y="4114800"/>
            <a:ext cx="4023360" cy="640080"/>
          </a:xfrm>
          <a:prstGeom prst="rect">
            <a:avLst/>
          </a:prstGeom>
          <a:noFill/>
          <a:ln/>
        </p:spPr>
        <p:txBody>
          <a:bodyPr wrap="square" rtlCol="0" anchor="ctr"/>
          <a:lstStyle/>
          <a:p>
            <a:pPr marL="0" indent="0">
              <a:buNone/>
            </a:pPr>
            <a:r>
              <a:rPr lang="en-US" sz="1050" i="1" dirty="0">
                <a:solidFill>
                  <a:srgbClr val="64748B"/>
                </a:solidFill>
                <a:latin typeface="Trebuchet MS" pitchFamily="34" charset="0"/>
                <a:ea typeface="Trebuchet MS" pitchFamily="34" charset="-122"/>
                <a:cs typeface="Trebuchet MS" pitchFamily="34" charset="-120"/>
              </a:rPr>
              <a:t>CCD is especially intuitive to visualize: you can watch each joint 'decide' its angle one by one.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8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7316"/>
          </a:solidFill>
          <a:ln w="12700">
            <a:solidFill>
              <a:srgbClr val="F9731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Proposed Solution: System Architecture</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4 — THE FOUR-MODULE DESIGN</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274320" y="1508760"/>
            <a:ext cx="2880360" cy="1600200"/>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7" name="Shape 5"/>
          <p:cNvSpPr/>
          <p:nvPr/>
        </p:nvSpPr>
        <p:spPr>
          <a:xfrm>
            <a:off x="274320" y="1508760"/>
            <a:ext cx="2880360" cy="320040"/>
          </a:xfrm>
          <a:prstGeom prst="rect">
            <a:avLst/>
          </a:prstGeom>
          <a:solidFill>
            <a:srgbClr val="3B82F6"/>
          </a:solidFill>
          <a:ln w="12700">
            <a:solidFill>
              <a:srgbClr val="3B82F6"/>
            </a:solidFill>
            <a:prstDash val="solid"/>
          </a:ln>
        </p:spPr>
      </p:sp>
      <p:sp>
        <p:nvSpPr>
          <p:cNvPr id="8" name="Text 6"/>
          <p:cNvSpPr/>
          <p:nvPr/>
        </p:nvSpPr>
        <p:spPr>
          <a:xfrm>
            <a:off x="347472" y="1508760"/>
            <a:ext cx="2697480" cy="3200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Kinematic</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Chain Model</a:t>
            </a:r>
            <a:endParaRPr lang="en-US" sz="1300" dirty="0"/>
          </a:p>
        </p:txBody>
      </p:sp>
      <p:sp>
        <p:nvSpPr>
          <p:cNvPr id="9" name="Text 7"/>
          <p:cNvSpPr/>
          <p:nvPr/>
        </p:nvSpPr>
        <p:spPr>
          <a:xfrm>
            <a:off x="365760" y="1892808"/>
            <a:ext cx="2697480" cy="1115568"/>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Stores joint angles, link lengths. Performs Forward Kinematics.</a:t>
            </a:r>
            <a:endParaRPr lang="en-US" sz="1100" dirty="0"/>
          </a:p>
        </p:txBody>
      </p:sp>
      <p:sp>
        <p:nvSpPr>
          <p:cNvPr id="10" name="Shape 8"/>
          <p:cNvSpPr/>
          <p:nvPr/>
        </p:nvSpPr>
        <p:spPr>
          <a:xfrm>
            <a:off x="3337560" y="1508760"/>
            <a:ext cx="2880360" cy="1600200"/>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11" name="Shape 9"/>
          <p:cNvSpPr/>
          <p:nvPr/>
        </p:nvSpPr>
        <p:spPr>
          <a:xfrm>
            <a:off x="3337560" y="1508760"/>
            <a:ext cx="2880360" cy="320040"/>
          </a:xfrm>
          <a:prstGeom prst="rect">
            <a:avLst/>
          </a:prstGeom>
          <a:solidFill>
            <a:srgbClr val="F97316"/>
          </a:solidFill>
          <a:ln w="12700">
            <a:solidFill>
              <a:srgbClr val="F97316"/>
            </a:solidFill>
            <a:prstDash val="solid"/>
          </a:ln>
        </p:spPr>
      </p:sp>
      <p:sp>
        <p:nvSpPr>
          <p:cNvPr id="12" name="Text 10"/>
          <p:cNvSpPr/>
          <p:nvPr/>
        </p:nvSpPr>
        <p:spPr>
          <a:xfrm>
            <a:off x="3410712" y="1508760"/>
            <a:ext cx="2697480" cy="3200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Algorithm</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Engine</a:t>
            </a:r>
            <a:endParaRPr lang="en-US" sz="1300" dirty="0"/>
          </a:p>
        </p:txBody>
      </p:sp>
      <p:sp>
        <p:nvSpPr>
          <p:cNvPr id="13" name="Text 11"/>
          <p:cNvSpPr/>
          <p:nvPr/>
        </p:nvSpPr>
        <p:spPr>
          <a:xfrm>
            <a:off x="3429000" y="1892808"/>
            <a:ext cx="2697480" cy="1115568"/>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Takes target + chain. Runs CCD, FABRIK, or Jacobian method. Returns updated angles.</a:t>
            </a:r>
            <a:endParaRPr lang="en-US" sz="1100" dirty="0"/>
          </a:p>
        </p:txBody>
      </p:sp>
      <p:sp>
        <p:nvSpPr>
          <p:cNvPr id="14" name="Shape 12"/>
          <p:cNvSpPr/>
          <p:nvPr/>
        </p:nvSpPr>
        <p:spPr>
          <a:xfrm>
            <a:off x="274320" y="3246120"/>
            <a:ext cx="2880360" cy="1600200"/>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15" name="Shape 13"/>
          <p:cNvSpPr/>
          <p:nvPr/>
        </p:nvSpPr>
        <p:spPr>
          <a:xfrm>
            <a:off x="274320" y="3246120"/>
            <a:ext cx="2880360" cy="320040"/>
          </a:xfrm>
          <a:prstGeom prst="rect">
            <a:avLst/>
          </a:prstGeom>
          <a:solidFill>
            <a:srgbClr val="10B981"/>
          </a:solidFill>
          <a:ln w="12700">
            <a:solidFill>
              <a:srgbClr val="10B981"/>
            </a:solidFill>
            <a:prstDash val="solid"/>
          </a:ln>
        </p:spPr>
      </p:sp>
      <p:sp>
        <p:nvSpPr>
          <p:cNvPr id="16" name="Text 14"/>
          <p:cNvSpPr/>
          <p:nvPr/>
        </p:nvSpPr>
        <p:spPr>
          <a:xfrm>
            <a:off x="347472" y="3246120"/>
            <a:ext cx="2697480" cy="3200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Renderer</a:t>
            </a:r>
            <a:endParaRPr lang="en-US" sz="1300" dirty="0"/>
          </a:p>
        </p:txBody>
      </p:sp>
      <p:sp>
        <p:nvSpPr>
          <p:cNvPr id="17" name="Text 15"/>
          <p:cNvSpPr/>
          <p:nvPr/>
        </p:nvSpPr>
        <p:spPr>
          <a:xfrm>
            <a:off x="365760" y="3630168"/>
            <a:ext cx="2697480" cy="1115568"/>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Reads positions from Model. Draws arm, joints, target, and convergence path.</a:t>
            </a:r>
            <a:endParaRPr lang="en-US" sz="1100" dirty="0"/>
          </a:p>
        </p:txBody>
      </p:sp>
      <p:sp>
        <p:nvSpPr>
          <p:cNvPr id="18" name="Shape 16"/>
          <p:cNvSpPr/>
          <p:nvPr/>
        </p:nvSpPr>
        <p:spPr>
          <a:xfrm>
            <a:off x="3337560" y="3246120"/>
            <a:ext cx="2880360" cy="1600200"/>
          </a:xfrm>
          <a:prstGeom prst="rect">
            <a:avLst/>
          </a:prstGeom>
          <a:solidFill>
            <a:srgbClr val="1C2233"/>
          </a:solidFill>
          <a:ln w="15240">
            <a:solidFill>
              <a:srgbClr val="A855F7"/>
            </a:solidFill>
            <a:prstDash val="solid"/>
          </a:ln>
          <a:effectLst>
            <a:outerShdw blurRad="101600" dist="38100" dir="8100000" algn="bl" rotWithShape="0">
              <a:srgbClr val="000000">
                <a:alpha val="25000"/>
              </a:srgbClr>
            </a:outerShdw>
          </a:effectLst>
        </p:spPr>
      </p:sp>
      <p:sp>
        <p:nvSpPr>
          <p:cNvPr id="19" name="Shape 17"/>
          <p:cNvSpPr/>
          <p:nvPr/>
        </p:nvSpPr>
        <p:spPr>
          <a:xfrm>
            <a:off x="3337560" y="3246120"/>
            <a:ext cx="2880360" cy="320040"/>
          </a:xfrm>
          <a:prstGeom prst="rect">
            <a:avLst/>
          </a:prstGeom>
          <a:solidFill>
            <a:srgbClr val="A855F7"/>
          </a:solidFill>
          <a:ln w="12700">
            <a:solidFill>
              <a:srgbClr val="A855F7"/>
            </a:solidFill>
            <a:prstDash val="solid"/>
          </a:ln>
        </p:spPr>
      </p:sp>
      <p:sp>
        <p:nvSpPr>
          <p:cNvPr id="20" name="Text 18"/>
          <p:cNvSpPr/>
          <p:nvPr/>
        </p:nvSpPr>
        <p:spPr>
          <a:xfrm>
            <a:off x="3410712" y="3246120"/>
            <a:ext cx="2697480" cy="32004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User</a:t>
            </a:r>
            <a:endParaRPr lang="en-US" sz="1300" dirty="0"/>
          </a:p>
          <a:p>
            <a:pPr marL="0" indent="0">
              <a:buNone/>
            </a:pPr>
            <a:r>
              <a:rPr lang="en-US" sz="1300" b="1" dirty="0">
                <a:solidFill>
                  <a:srgbClr val="FFFFFF"/>
                </a:solidFill>
                <a:latin typeface="Trebuchet MS" pitchFamily="34" charset="0"/>
                <a:ea typeface="Trebuchet MS" pitchFamily="34" charset="-122"/>
                <a:cs typeface="Trebuchet MS" pitchFamily="34" charset="-120"/>
              </a:rPr>
              <a:t>Interface</a:t>
            </a:r>
            <a:endParaRPr lang="en-US" sz="1300" dirty="0"/>
          </a:p>
        </p:txBody>
      </p:sp>
      <p:sp>
        <p:nvSpPr>
          <p:cNvPr id="21" name="Text 19"/>
          <p:cNvSpPr/>
          <p:nvPr/>
        </p:nvSpPr>
        <p:spPr>
          <a:xfrm>
            <a:off x="3429000" y="3630168"/>
            <a:ext cx="2697480" cy="1115568"/>
          </a:xfrm>
          <a:prstGeom prst="rect">
            <a:avLst/>
          </a:prstGeom>
          <a:noFill/>
          <a:ln/>
        </p:spPr>
        <p:txBody>
          <a:bodyPr wrap="square"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Handles clicks, dragging, algorithm selection, sliders, animation controls.</a:t>
            </a:r>
            <a:endParaRPr lang="en-US" sz="1100" dirty="0"/>
          </a:p>
        </p:txBody>
      </p:sp>
      <p:sp>
        <p:nvSpPr>
          <p:cNvPr id="22" name="Shape 20"/>
          <p:cNvSpPr/>
          <p:nvPr/>
        </p:nvSpPr>
        <p:spPr>
          <a:xfrm>
            <a:off x="3337560" y="3657600"/>
            <a:ext cx="0" cy="0"/>
          </a:xfrm>
          <a:prstGeom prst="line">
            <a:avLst/>
          </a:prstGeom>
          <a:noFill/>
          <a:ln w="19050">
            <a:solidFill>
              <a:srgbClr val="A855F7"/>
            </a:solidFill>
            <a:prstDash val="dash"/>
          </a:ln>
        </p:spPr>
      </p:sp>
      <p:sp>
        <p:nvSpPr>
          <p:cNvPr id="23" name="Shape 21"/>
          <p:cNvSpPr/>
          <p:nvPr/>
        </p:nvSpPr>
        <p:spPr>
          <a:xfrm>
            <a:off x="6400800" y="1234440"/>
            <a:ext cx="2560320" cy="3566160"/>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24" name="Shape 22"/>
          <p:cNvSpPr/>
          <p:nvPr/>
        </p:nvSpPr>
        <p:spPr>
          <a:xfrm>
            <a:off x="6400800" y="1234440"/>
            <a:ext cx="2560320" cy="292608"/>
          </a:xfrm>
          <a:prstGeom prst="rect">
            <a:avLst/>
          </a:prstGeom>
          <a:solidFill>
            <a:srgbClr val="F97316"/>
          </a:solidFill>
          <a:ln w="12700">
            <a:solidFill>
              <a:srgbClr val="F97316"/>
            </a:solidFill>
            <a:prstDash val="solid"/>
          </a:ln>
        </p:spPr>
      </p:sp>
      <p:sp>
        <p:nvSpPr>
          <p:cNvPr id="25" name="Text 23"/>
          <p:cNvSpPr/>
          <p:nvPr/>
        </p:nvSpPr>
        <p:spPr>
          <a:xfrm>
            <a:off x="6473952" y="1234440"/>
            <a:ext cx="2414016"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Data Flow</a:t>
            </a:r>
            <a:endParaRPr lang="en-US" sz="1200" dirty="0"/>
          </a:p>
        </p:txBody>
      </p:sp>
      <p:sp>
        <p:nvSpPr>
          <p:cNvPr id="26" name="Text 24"/>
          <p:cNvSpPr/>
          <p:nvPr/>
        </p:nvSpPr>
        <p:spPr>
          <a:xfrm>
            <a:off x="6473952" y="1581912"/>
            <a:ext cx="2414016" cy="530352"/>
          </a:xfrm>
          <a:prstGeom prst="rect">
            <a:avLst/>
          </a:prstGeom>
          <a:noFill/>
          <a:ln/>
        </p:spPr>
        <p:txBody>
          <a:bodyPr wrap="square" rtlCol="0" anchor="ctr"/>
          <a:lstStyle/>
          <a:p>
            <a:pPr marL="0" indent="0">
              <a:buNone/>
            </a:pPr>
            <a:r>
              <a:rPr lang="en-US" sz="1000" dirty="0">
                <a:solidFill>
                  <a:srgbClr val="CBD5E1"/>
                </a:solidFill>
                <a:latin typeface="Trebuchet MS" pitchFamily="34" charset="0"/>
                <a:ea typeface="Trebuchet MS" pitchFamily="34" charset="-122"/>
                <a:cs typeface="Trebuchet MS" pitchFamily="34" charset="-120"/>
              </a:rPr>
              <a:t>UI  →  Algorithm Engine</a:t>
            </a:r>
            <a:endParaRPr lang="en-US" sz="1000" dirty="0"/>
          </a:p>
          <a:p>
            <a:pPr marL="0" indent="0">
              <a:buNone/>
            </a:pPr>
            <a:r>
              <a:rPr lang="en-US" sz="1000" dirty="0">
                <a:solidFill>
                  <a:srgbClr val="CBD5E1"/>
                </a:solidFill>
                <a:latin typeface="Trebuchet MS" pitchFamily="34" charset="0"/>
                <a:ea typeface="Trebuchet MS" pitchFamily="34" charset="-122"/>
                <a:cs typeface="Trebuchet MS" pitchFamily="34" charset="-120"/>
              </a:rPr>
              <a:t>(target position + settings)</a:t>
            </a:r>
            <a:endParaRPr lang="en-US" sz="1000" dirty="0"/>
          </a:p>
        </p:txBody>
      </p:sp>
      <p:sp>
        <p:nvSpPr>
          <p:cNvPr id="27" name="Shape 25"/>
          <p:cNvSpPr/>
          <p:nvPr/>
        </p:nvSpPr>
        <p:spPr>
          <a:xfrm>
            <a:off x="6473952" y="2084832"/>
            <a:ext cx="2414016" cy="10973"/>
          </a:xfrm>
          <a:prstGeom prst="rect">
            <a:avLst/>
          </a:prstGeom>
          <a:solidFill>
            <a:srgbClr val="1E293B"/>
          </a:solidFill>
          <a:ln w="12700">
            <a:solidFill>
              <a:srgbClr val="1E293B"/>
            </a:solidFill>
            <a:prstDash val="solid"/>
          </a:ln>
        </p:spPr>
      </p:sp>
      <p:sp>
        <p:nvSpPr>
          <p:cNvPr id="28" name="Text 26"/>
          <p:cNvSpPr/>
          <p:nvPr/>
        </p:nvSpPr>
        <p:spPr>
          <a:xfrm>
            <a:off x="6473952" y="2221992"/>
            <a:ext cx="2414016" cy="530352"/>
          </a:xfrm>
          <a:prstGeom prst="rect">
            <a:avLst/>
          </a:prstGeom>
          <a:noFill/>
          <a:ln/>
        </p:spPr>
        <p:txBody>
          <a:bodyPr wrap="square" rtlCol="0" anchor="ctr"/>
          <a:lstStyle/>
          <a:p>
            <a:pPr marL="0" indent="0">
              <a:buNone/>
            </a:pPr>
            <a:r>
              <a:rPr lang="en-US" sz="1000" dirty="0">
                <a:solidFill>
                  <a:srgbClr val="CBD5E1"/>
                </a:solidFill>
                <a:latin typeface="Trebuchet MS" pitchFamily="34" charset="0"/>
                <a:ea typeface="Trebuchet MS" pitchFamily="34" charset="-122"/>
                <a:cs typeface="Trebuchet MS" pitchFamily="34" charset="-120"/>
              </a:rPr>
              <a:t>Algorithm Engine  →  Model</a:t>
            </a:r>
            <a:endParaRPr lang="en-US" sz="1000" dirty="0"/>
          </a:p>
          <a:p>
            <a:pPr marL="0" indent="0">
              <a:buNone/>
            </a:pPr>
            <a:r>
              <a:rPr lang="en-US" sz="1000" dirty="0">
                <a:solidFill>
                  <a:srgbClr val="CBD5E1"/>
                </a:solidFill>
                <a:latin typeface="Trebuchet MS" pitchFamily="34" charset="0"/>
                <a:ea typeface="Trebuchet MS" pitchFamily="34" charset="-122"/>
                <a:cs typeface="Trebuchet MS" pitchFamily="34" charset="-120"/>
              </a:rPr>
              <a:t>(read + update joint angles)</a:t>
            </a:r>
            <a:endParaRPr lang="en-US" sz="1000" dirty="0"/>
          </a:p>
        </p:txBody>
      </p:sp>
      <p:sp>
        <p:nvSpPr>
          <p:cNvPr id="29" name="Shape 27"/>
          <p:cNvSpPr/>
          <p:nvPr/>
        </p:nvSpPr>
        <p:spPr>
          <a:xfrm>
            <a:off x="6473952" y="2724912"/>
            <a:ext cx="2414016" cy="10973"/>
          </a:xfrm>
          <a:prstGeom prst="rect">
            <a:avLst/>
          </a:prstGeom>
          <a:solidFill>
            <a:srgbClr val="1E293B"/>
          </a:solidFill>
          <a:ln w="12700">
            <a:solidFill>
              <a:srgbClr val="1E293B"/>
            </a:solidFill>
            <a:prstDash val="solid"/>
          </a:ln>
        </p:spPr>
      </p:sp>
      <p:sp>
        <p:nvSpPr>
          <p:cNvPr id="30" name="Text 28"/>
          <p:cNvSpPr/>
          <p:nvPr/>
        </p:nvSpPr>
        <p:spPr>
          <a:xfrm>
            <a:off x="6473952" y="2862072"/>
            <a:ext cx="2414016" cy="530352"/>
          </a:xfrm>
          <a:prstGeom prst="rect">
            <a:avLst/>
          </a:prstGeom>
          <a:noFill/>
          <a:ln/>
        </p:spPr>
        <p:txBody>
          <a:bodyPr wrap="square" rtlCol="0" anchor="ctr"/>
          <a:lstStyle/>
          <a:p>
            <a:pPr marL="0" indent="0">
              <a:buNone/>
            </a:pPr>
            <a:r>
              <a:rPr lang="en-US" sz="1000" dirty="0">
                <a:solidFill>
                  <a:srgbClr val="CBD5E1"/>
                </a:solidFill>
                <a:latin typeface="Trebuchet MS" pitchFamily="34" charset="0"/>
                <a:ea typeface="Trebuchet MS" pitchFamily="34" charset="-122"/>
                <a:cs typeface="Trebuchet MS" pitchFamily="34" charset="-120"/>
              </a:rPr>
              <a:t>Model  →  Renderer</a:t>
            </a:r>
            <a:endParaRPr lang="en-US" sz="1000" dirty="0"/>
          </a:p>
          <a:p>
            <a:pPr marL="0" indent="0">
              <a:buNone/>
            </a:pPr>
            <a:r>
              <a:rPr lang="en-US" sz="1000" dirty="0">
                <a:solidFill>
                  <a:srgbClr val="CBD5E1"/>
                </a:solidFill>
                <a:latin typeface="Trebuchet MS" pitchFamily="34" charset="0"/>
                <a:ea typeface="Trebuchet MS" pitchFamily="34" charset="-122"/>
                <a:cs typeface="Trebuchet MS" pitchFamily="34" charset="-120"/>
              </a:rPr>
              <a:t>(joint positions to draw)</a:t>
            </a:r>
            <a:endParaRPr lang="en-US" sz="1000" dirty="0"/>
          </a:p>
        </p:txBody>
      </p:sp>
      <p:sp>
        <p:nvSpPr>
          <p:cNvPr id="31" name="Shape 29"/>
          <p:cNvSpPr/>
          <p:nvPr/>
        </p:nvSpPr>
        <p:spPr>
          <a:xfrm>
            <a:off x="6473952" y="3364992"/>
            <a:ext cx="2414016" cy="10973"/>
          </a:xfrm>
          <a:prstGeom prst="rect">
            <a:avLst/>
          </a:prstGeom>
          <a:solidFill>
            <a:srgbClr val="1E293B"/>
          </a:solidFill>
          <a:ln w="12700">
            <a:solidFill>
              <a:srgbClr val="1E293B"/>
            </a:solidFill>
            <a:prstDash val="solid"/>
          </a:ln>
        </p:spPr>
      </p:sp>
      <p:sp>
        <p:nvSpPr>
          <p:cNvPr id="32" name="Text 30"/>
          <p:cNvSpPr/>
          <p:nvPr/>
        </p:nvSpPr>
        <p:spPr>
          <a:xfrm>
            <a:off x="6473952" y="3502152"/>
            <a:ext cx="2414016" cy="530352"/>
          </a:xfrm>
          <a:prstGeom prst="rect">
            <a:avLst/>
          </a:prstGeom>
          <a:noFill/>
          <a:ln/>
        </p:spPr>
        <p:txBody>
          <a:bodyPr wrap="square" rtlCol="0" anchor="ctr"/>
          <a:lstStyle/>
          <a:p>
            <a:pPr marL="0" indent="0">
              <a:buNone/>
            </a:pPr>
            <a:r>
              <a:rPr lang="en-US" sz="1000" dirty="0">
                <a:solidFill>
                  <a:srgbClr val="CBD5E1"/>
                </a:solidFill>
                <a:latin typeface="Trebuchet MS" pitchFamily="34" charset="0"/>
                <a:ea typeface="Trebuchet MS" pitchFamily="34" charset="-122"/>
                <a:cs typeface="Trebuchet MS" pitchFamily="34" charset="-120"/>
              </a:rPr>
              <a:t>Algorithm Engine  →  UI</a:t>
            </a:r>
            <a:endParaRPr lang="en-US" sz="1000" dirty="0"/>
          </a:p>
          <a:p>
            <a:pPr marL="0" indent="0">
              <a:buNone/>
            </a:pPr>
            <a:r>
              <a:rPr lang="en-US" sz="1000" dirty="0">
                <a:solidFill>
                  <a:srgbClr val="CBD5E1"/>
                </a:solidFill>
                <a:latin typeface="Trebuchet MS" pitchFamily="34" charset="0"/>
                <a:ea typeface="Trebuchet MS" pitchFamily="34" charset="-122"/>
                <a:cs typeface="Trebuchet MS" pitchFamily="34" charset="-120"/>
              </a:rPr>
              <a:t>(iteration count, error, status)</a:t>
            </a:r>
            <a:endParaRPr lang="en-US" sz="1000" dirty="0"/>
          </a:p>
        </p:txBody>
      </p:sp>
      <p:sp>
        <p:nvSpPr>
          <p:cNvPr id="33" name="Shape 31"/>
          <p:cNvSpPr/>
          <p:nvPr/>
        </p:nvSpPr>
        <p:spPr>
          <a:xfrm>
            <a:off x="6473952" y="4005072"/>
            <a:ext cx="2414016" cy="10973"/>
          </a:xfrm>
          <a:prstGeom prst="rect">
            <a:avLst/>
          </a:prstGeom>
          <a:solidFill>
            <a:srgbClr val="1E293B"/>
          </a:solidFill>
          <a:ln w="12700">
            <a:solidFill>
              <a:srgbClr val="1E293B"/>
            </a:solidFill>
            <a:prstDash val="solid"/>
          </a:ln>
        </p:spPr>
      </p:sp>
      <p:sp>
        <p:nvSpPr>
          <p:cNvPr id="34" name="Text 32"/>
          <p:cNvSpPr/>
          <p:nvPr/>
        </p:nvSpPr>
        <p:spPr>
          <a:xfrm>
            <a:off x="6473952" y="4142232"/>
            <a:ext cx="2414016" cy="530352"/>
          </a:xfrm>
          <a:prstGeom prst="rect">
            <a:avLst/>
          </a:prstGeom>
          <a:noFill/>
          <a:ln/>
        </p:spPr>
        <p:txBody>
          <a:bodyPr wrap="square" rtlCol="0" anchor="ctr"/>
          <a:lstStyle/>
          <a:p>
            <a:pPr marL="0" indent="0">
              <a:buNone/>
            </a:pPr>
            <a:r>
              <a:rPr lang="en-US" sz="1000" dirty="0">
                <a:solidFill>
                  <a:srgbClr val="CBD5E1"/>
                </a:solidFill>
                <a:latin typeface="Trebuchet MS" pitchFamily="34" charset="0"/>
                <a:ea typeface="Trebuchet MS" pitchFamily="34" charset="-122"/>
                <a:cs typeface="Trebuchet MS" pitchFamily="34" charset="-120"/>
              </a:rPr>
              <a:t>UI  →  Renderer</a:t>
            </a:r>
            <a:endParaRPr lang="en-US" sz="1000" dirty="0"/>
          </a:p>
          <a:p>
            <a:pPr marL="0" indent="0">
              <a:buNone/>
            </a:pPr>
            <a:r>
              <a:rPr lang="en-US" sz="1000" dirty="0">
                <a:solidFill>
                  <a:srgbClr val="CBD5E1"/>
                </a:solidFill>
                <a:latin typeface="Trebuchet MS" pitchFamily="34" charset="0"/>
                <a:ea typeface="Trebuchet MS" pitchFamily="34" charset="-122"/>
                <a:cs typeface="Trebuchet MS" pitchFamily="34" charset="-120"/>
              </a:rPr>
              <a:t>(animation speed, step mode)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97316"/>
          </a:solidFill>
          <a:ln w="12700">
            <a:solidFill>
              <a:srgbClr val="F97316"/>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Implementation: Python, 2D First</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4 — TECHNOLOGY &amp; SCOPE DECISIONS</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Text 4"/>
          <p:cNvSpPr/>
          <p:nvPr/>
        </p:nvSpPr>
        <p:spPr>
          <a:xfrm>
            <a:off x="320040" y="1261872"/>
            <a:ext cx="4114800" cy="274320"/>
          </a:xfrm>
          <a:prstGeom prst="rect">
            <a:avLst/>
          </a:prstGeom>
          <a:noFill/>
          <a:ln/>
        </p:spPr>
        <p:txBody>
          <a:bodyPr wrap="square" lIns="0" tIns="0" rIns="0" bIns="0" rtlCol="0" anchor="ctr"/>
          <a:lstStyle/>
          <a:p>
            <a:pPr marL="0" indent="0">
              <a:buNone/>
            </a:pPr>
            <a:r>
              <a:rPr lang="en-US" sz="1400" b="1" dirty="0">
                <a:solidFill>
                  <a:srgbClr val="F97316"/>
                </a:solidFill>
                <a:latin typeface="Trebuchet MS" pitchFamily="34" charset="0"/>
                <a:ea typeface="Trebuchet MS" pitchFamily="34" charset="-122"/>
                <a:cs typeface="Trebuchet MS" pitchFamily="34" charset="-120"/>
              </a:rPr>
              <a:t>Why Python?</a:t>
            </a:r>
            <a:endParaRPr lang="en-US" sz="1400" dirty="0"/>
          </a:p>
        </p:txBody>
      </p:sp>
      <p:sp>
        <p:nvSpPr>
          <p:cNvPr id="7" name="Shape 5"/>
          <p:cNvSpPr/>
          <p:nvPr/>
        </p:nvSpPr>
        <p:spPr>
          <a:xfrm>
            <a:off x="320040" y="1627632"/>
            <a:ext cx="54864" cy="164592"/>
          </a:xfrm>
          <a:prstGeom prst="rect">
            <a:avLst/>
          </a:prstGeom>
          <a:solidFill>
            <a:srgbClr val="F97316"/>
          </a:solidFill>
          <a:ln w="12700">
            <a:solidFill>
              <a:srgbClr val="F97316"/>
            </a:solidFill>
            <a:prstDash val="solid"/>
          </a:ln>
        </p:spPr>
      </p:sp>
      <p:sp>
        <p:nvSpPr>
          <p:cNvPr id="8" name="Text 6"/>
          <p:cNvSpPr/>
          <p:nvPr/>
        </p:nvSpPr>
        <p:spPr>
          <a:xfrm>
            <a:off x="457200" y="1600200"/>
            <a:ext cx="3840480" cy="20116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Accessible ecosystem</a:t>
            </a:r>
            <a:endParaRPr lang="en-US" sz="1200" dirty="0"/>
          </a:p>
        </p:txBody>
      </p:sp>
      <p:sp>
        <p:nvSpPr>
          <p:cNvPr id="9" name="Text 7"/>
          <p:cNvSpPr/>
          <p:nvPr/>
        </p:nvSpPr>
        <p:spPr>
          <a:xfrm>
            <a:off x="457200" y="1819656"/>
            <a:ext cx="3840480" cy="45720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NumPy for matrix math, Pygame or Tkinter for rendering — no boilerplate.</a:t>
            </a:r>
            <a:endParaRPr lang="en-US" sz="1100" dirty="0"/>
          </a:p>
        </p:txBody>
      </p:sp>
      <p:sp>
        <p:nvSpPr>
          <p:cNvPr id="10" name="Shape 8"/>
          <p:cNvSpPr/>
          <p:nvPr/>
        </p:nvSpPr>
        <p:spPr>
          <a:xfrm>
            <a:off x="320040" y="2432304"/>
            <a:ext cx="54864" cy="164592"/>
          </a:xfrm>
          <a:prstGeom prst="rect">
            <a:avLst/>
          </a:prstGeom>
          <a:solidFill>
            <a:srgbClr val="F97316"/>
          </a:solidFill>
          <a:ln w="12700">
            <a:solidFill>
              <a:srgbClr val="F97316"/>
            </a:solidFill>
            <a:prstDash val="solid"/>
          </a:ln>
        </p:spPr>
      </p:sp>
      <p:sp>
        <p:nvSpPr>
          <p:cNvPr id="11" name="Text 9"/>
          <p:cNvSpPr/>
          <p:nvPr/>
        </p:nvSpPr>
        <p:spPr>
          <a:xfrm>
            <a:off x="457200" y="2404872"/>
            <a:ext cx="3840480" cy="20116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Rapid prototyping</a:t>
            </a:r>
            <a:endParaRPr lang="en-US" sz="1200" dirty="0"/>
          </a:p>
        </p:txBody>
      </p:sp>
      <p:sp>
        <p:nvSpPr>
          <p:cNvPr id="12" name="Text 10"/>
          <p:cNvSpPr/>
          <p:nvPr/>
        </p:nvSpPr>
        <p:spPr>
          <a:xfrm>
            <a:off x="457200" y="2624328"/>
            <a:ext cx="3840480" cy="45720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IK algorithms can be written and tested in minutes, not hours.</a:t>
            </a:r>
            <a:endParaRPr lang="en-US" sz="1100" dirty="0"/>
          </a:p>
        </p:txBody>
      </p:sp>
      <p:sp>
        <p:nvSpPr>
          <p:cNvPr id="13" name="Shape 11"/>
          <p:cNvSpPr/>
          <p:nvPr/>
        </p:nvSpPr>
        <p:spPr>
          <a:xfrm>
            <a:off x="320040" y="3236976"/>
            <a:ext cx="54864" cy="164592"/>
          </a:xfrm>
          <a:prstGeom prst="rect">
            <a:avLst/>
          </a:prstGeom>
          <a:solidFill>
            <a:srgbClr val="F97316"/>
          </a:solidFill>
          <a:ln w="12700">
            <a:solidFill>
              <a:srgbClr val="F97316"/>
            </a:solidFill>
            <a:prstDash val="solid"/>
          </a:ln>
        </p:spPr>
      </p:sp>
      <p:sp>
        <p:nvSpPr>
          <p:cNvPr id="14" name="Text 12"/>
          <p:cNvSpPr/>
          <p:nvPr/>
        </p:nvSpPr>
        <p:spPr>
          <a:xfrm>
            <a:off x="457200" y="3209544"/>
            <a:ext cx="3840480" cy="20116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Readable math</a:t>
            </a:r>
            <a:endParaRPr lang="en-US" sz="1200" dirty="0"/>
          </a:p>
        </p:txBody>
      </p:sp>
      <p:sp>
        <p:nvSpPr>
          <p:cNvPr id="15" name="Text 13"/>
          <p:cNvSpPr/>
          <p:nvPr/>
        </p:nvSpPr>
        <p:spPr>
          <a:xfrm>
            <a:off x="457200" y="3429000"/>
            <a:ext cx="3840480" cy="45720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NumPy expressions mirror mathematical notation closely.</a:t>
            </a:r>
            <a:endParaRPr lang="en-US" sz="1100" dirty="0"/>
          </a:p>
        </p:txBody>
      </p:sp>
      <p:sp>
        <p:nvSpPr>
          <p:cNvPr id="16" name="Shape 14"/>
          <p:cNvSpPr/>
          <p:nvPr/>
        </p:nvSpPr>
        <p:spPr>
          <a:xfrm>
            <a:off x="320040" y="4041648"/>
            <a:ext cx="54864" cy="164592"/>
          </a:xfrm>
          <a:prstGeom prst="rect">
            <a:avLst/>
          </a:prstGeom>
          <a:solidFill>
            <a:srgbClr val="F97316"/>
          </a:solidFill>
          <a:ln w="12700">
            <a:solidFill>
              <a:srgbClr val="F97316"/>
            </a:solidFill>
            <a:prstDash val="solid"/>
          </a:ln>
        </p:spPr>
      </p:sp>
      <p:sp>
        <p:nvSpPr>
          <p:cNvPr id="17" name="Text 15"/>
          <p:cNvSpPr/>
          <p:nvPr/>
        </p:nvSpPr>
        <p:spPr>
          <a:xfrm>
            <a:off x="457200" y="4014216"/>
            <a:ext cx="3840480" cy="20116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Cross-platform</a:t>
            </a:r>
            <a:endParaRPr lang="en-US" sz="1200" dirty="0"/>
          </a:p>
        </p:txBody>
      </p:sp>
      <p:sp>
        <p:nvSpPr>
          <p:cNvPr id="18" name="Text 16"/>
          <p:cNvSpPr/>
          <p:nvPr/>
        </p:nvSpPr>
        <p:spPr>
          <a:xfrm>
            <a:off x="457200" y="4233672"/>
            <a:ext cx="3840480" cy="45720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Runs on any OS with no additional install burden for users.</a:t>
            </a:r>
            <a:endParaRPr lang="en-US" sz="1100" dirty="0"/>
          </a:p>
        </p:txBody>
      </p:sp>
      <p:sp>
        <p:nvSpPr>
          <p:cNvPr id="19" name="Shape 17"/>
          <p:cNvSpPr/>
          <p:nvPr/>
        </p:nvSpPr>
        <p:spPr>
          <a:xfrm>
            <a:off x="4663440" y="1234440"/>
            <a:ext cx="4206240" cy="3657600"/>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20" name="Shape 18"/>
          <p:cNvSpPr/>
          <p:nvPr/>
        </p:nvSpPr>
        <p:spPr>
          <a:xfrm>
            <a:off x="4663440" y="1234440"/>
            <a:ext cx="4206240" cy="292608"/>
          </a:xfrm>
          <a:prstGeom prst="rect">
            <a:avLst/>
          </a:prstGeom>
          <a:solidFill>
            <a:srgbClr val="3B82F6"/>
          </a:solidFill>
          <a:ln w="12700">
            <a:solidFill>
              <a:srgbClr val="3B82F6"/>
            </a:solidFill>
            <a:prstDash val="solid"/>
          </a:ln>
        </p:spPr>
      </p:sp>
      <p:sp>
        <p:nvSpPr>
          <p:cNvPr id="21" name="Text 19"/>
          <p:cNvSpPr/>
          <p:nvPr/>
        </p:nvSpPr>
        <p:spPr>
          <a:xfrm>
            <a:off x="4754880" y="1234440"/>
            <a:ext cx="402336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Scope: 2D First, 3D Later</a:t>
            </a:r>
            <a:endParaRPr lang="en-US" sz="1200" dirty="0"/>
          </a:p>
        </p:txBody>
      </p:sp>
      <p:sp>
        <p:nvSpPr>
          <p:cNvPr id="22" name="Text 20"/>
          <p:cNvSpPr/>
          <p:nvPr/>
        </p:nvSpPr>
        <p:spPr>
          <a:xfrm>
            <a:off x="4754880" y="1600200"/>
            <a:ext cx="4023360" cy="228600"/>
          </a:xfrm>
          <a:prstGeom prst="rect">
            <a:avLst/>
          </a:prstGeom>
          <a:noFill/>
          <a:ln/>
        </p:spPr>
        <p:txBody>
          <a:bodyPr wrap="square" lIns="0" tIns="0" rIns="0" bIns="0" rtlCol="0" anchor="ctr"/>
          <a:lstStyle/>
          <a:p>
            <a:pPr marL="0" indent="0">
              <a:buNone/>
            </a:pPr>
            <a:r>
              <a:rPr lang="en-US" sz="1200" b="1" dirty="0">
                <a:solidFill>
                  <a:srgbClr val="3B82F6"/>
                </a:solidFill>
                <a:latin typeface="Trebuchet MS" pitchFamily="34" charset="0"/>
                <a:ea typeface="Trebuchet MS" pitchFamily="34" charset="-122"/>
                <a:cs typeface="Trebuchet MS" pitchFamily="34" charset="-120"/>
              </a:rPr>
              <a:t>Phase 1 — 2D Implementation:</a:t>
            </a:r>
            <a:endParaRPr lang="en-US" sz="1200" dirty="0"/>
          </a:p>
        </p:txBody>
      </p:sp>
      <p:sp>
        <p:nvSpPr>
          <p:cNvPr id="23" name="Text 21"/>
          <p:cNvSpPr/>
          <p:nvPr/>
        </p:nvSpPr>
        <p:spPr>
          <a:xfrm>
            <a:off x="4754880" y="1874520"/>
            <a:ext cx="4023360" cy="1207008"/>
          </a:xfrm>
          <a:prstGeom prst="rect">
            <a:avLst/>
          </a:prstGeom>
          <a:noFill/>
          <a:ln/>
        </p:spPr>
        <p:txBody>
          <a:bodyPr wrap="square" rtlCol="0" anchor="ctr"/>
          <a:lstStyle/>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All joints rotate in a single plane</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2×2 rotation matrices — no gimbal lock, no quaternions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Easy to visualize on a flat screen, instant feedback</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Full algorithm suite implemented and debugged here</a:t>
            </a:r>
            <a:endParaRPr lang="en-US" sz="1100" dirty="0"/>
          </a:p>
        </p:txBody>
      </p:sp>
      <p:sp>
        <p:nvSpPr>
          <p:cNvPr id="24" name="Shape 22"/>
          <p:cNvSpPr/>
          <p:nvPr/>
        </p:nvSpPr>
        <p:spPr>
          <a:xfrm>
            <a:off x="4754880" y="3145536"/>
            <a:ext cx="3931920" cy="13716"/>
          </a:xfrm>
          <a:prstGeom prst="rect">
            <a:avLst/>
          </a:prstGeom>
          <a:solidFill>
            <a:srgbClr val="1E293B"/>
          </a:solidFill>
          <a:ln w="12700">
            <a:solidFill>
              <a:srgbClr val="1E293B"/>
            </a:solidFill>
            <a:prstDash val="solid"/>
          </a:ln>
        </p:spPr>
      </p:sp>
      <p:sp>
        <p:nvSpPr>
          <p:cNvPr id="25" name="Text 23"/>
          <p:cNvSpPr/>
          <p:nvPr/>
        </p:nvSpPr>
        <p:spPr>
          <a:xfrm>
            <a:off x="4754880" y="3218688"/>
            <a:ext cx="4023360" cy="228600"/>
          </a:xfrm>
          <a:prstGeom prst="rect">
            <a:avLst/>
          </a:prstGeom>
          <a:noFill/>
          <a:ln/>
        </p:spPr>
        <p:txBody>
          <a:bodyPr wrap="square" lIns="0" tIns="0" rIns="0" bIns="0" rtlCol="0" anchor="ctr"/>
          <a:lstStyle/>
          <a:p>
            <a:pPr marL="0" indent="0">
              <a:buNone/>
            </a:pPr>
            <a:r>
              <a:rPr lang="en-US" sz="1200" b="1" dirty="0">
                <a:solidFill>
                  <a:srgbClr val="10B981"/>
                </a:solidFill>
                <a:latin typeface="Trebuchet MS" pitchFamily="34" charset="0"/>
                <a:ea typeface="Trebuchet MS" pitchFamily="34" charset="-122"/>
                <a:cs typeface="Trebuchet MS" pitchFamily="34" charset="-120"/>
              </a:rPr>
              <a:t>Phase 2 — 3D Extension (if time permits):</a:t>
            </a:r>
            <a:endParaRPr lang="en-US" sz="1200" dirty="0"/>
          </a:p>
        </p:txBody>
      </p:sp>
      <p:sp>
        <p:nvSpPr>
          <p:cNvPr id="26" name="Text 24"/>
          <p:cNvSpPr/>
          <p:nvPr/>
        </p:nvSpPr>
        <p:spPr>
          <a:xfrm>
            <a:off x="4754880" y="3493008"/>
            <a:ext cx="4023360" cy="1005840"/>
          </a:xfrm>
          <a:prstGeom prst="rect">
            <a:avLst/>
          </a:prstGeom>
          <a:noFill/>
          <a:ln/>
        </p:spPr>
        <p:txBody>
          <a:bodyPr wrap="square" rtlCol="0" anchor="ctr"/>
          <a:lstStyle/>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Extend to 4×4 homogeneous transforms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Add camera orbit controls and 3D rendering</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Quaternions for rotation interpolation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28"/>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0B981"/>
          </a:solidFill>
          <a:ln w="12700">
            <a:solidFill>
              <a:srgbClr val="10B981"/>
            </a:solidFill>
            <a:prstDash val="solid"/>
          </a:ln>
        </p:spPr>
      </p:sp>
      <p:sp>
        <p:nvSpPr>
          <p:cNvPr id="3" name="Text 1"/>
          <p:cNvSpPr/>
          <p:nvPr/>
        </p:nvSpPr>
        <p:spPr>
          <a:xfrm>
            <a:off x="320040" y="256032"/>
            <a:ext cx="850392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Core Interactive Features</a:t>
            </a:r>
            <a:endParaRPr lang="en-US" sz="2600" dirty="0"/>
          </a:p>
        </p:txBody>
      </p:sp>
      <p:sp>
        <p:nvSpPr>
          <p:cNvPr id="4" name="Text 2"/>
          <p:cNvSpPr/>
          <p:nvPr/>
        </p:nvSpPr>
        <p:spPr>
          <a:xfrm>
            <a:off x="320040" y="804672"/>
            <a:ext cx="8503920" cy="274320"/>
          </a:xfrm>
          <a:prstGeom prst="rect">
            <a:avLst/>
          </a:prstGeom>
          <a:noFill/>
          <a:ln/>
        </p:spPr>
        <p:txBody>
          <a:bodyPr wrap="square" lIns="0" tIns="0" rIns="0" bIns="0" rtlCol="0" anchor="ctr"/>
          <a:lstStyle/>
          <a:p>
            <a:pPr marL="0" indent="0">
              <a:buNone/>
            </a:pPr>
            <a:r>
              <a:rPr lang="en-US" sz="1200" kern="0" spc="200" dirty="0">
                <a:solidFill>
                  <a:srgbClr val="F97316"/>
                </a:solidFill>
                <a:latin typeface="Trebuchet MS" pitchFamily="34" charset="0"/>
                <a:ea typeface="Trebuchet MS" pitchFamily="34" charset="-122"/>
                <a:cs typeface="Trebuchet MS" pitchFamily="34" charset="-120"/>
              </a:rPr>
              <a:t>PHASE 5 — WHAT MAKES THIS A SANDBOX, NOT JUST A DEMO</a:t>
            </a:r>
            <a:endParaRPr lang="en-US" sz="1200" dirty="0"/>
          </a:p>
        </p:txBody>
      </p:sp>
      <p:sp>
        <p:nvSpPr>
          <p:cNvPr id="5" name="Shape 3"/>
          <p:cNvSpPr/>
          <p:nvPr/>
        </p:nvSpPr>
        <p:spPr>
          <a:xfrm>
            <a:off x="320040" y="1115568"/>
            <a:ext cx="8503920" cy="13716"/>
          </a:xfrm>
          <a:prstGeom prst="rect">
            <a:avLst/>
          </a:prstGeom>
          <a:solidFill>
            <a:srgbClr val="1E293B"/>
          </a:solidFill>
          <a:ln w="12700">
            <a:solidFill>
              <a:srgbClr val="1E293B"/>
            </a:solidFill>
            <a:prstDash val="solid"/>
          </a:ln>
        </p:spPr>
      </p:sp>
      <p:sp>
        <p:nvSpPr>
          <p:cNvPr id="6" name="Shape 4"/>
          <p:cNvSpPr/>
          <p:nvPr/>
        </p:nvSpPr>
        <p:spPr>
          <a:xfrm>
            <a:off x="274320" y="1261872"/>
            <a:ext cx="4270248" cy="1755648"/>
          </a:xfrm>
          <a:prstGeom prst="rect">
            <a:avLst/>
          </a:prstGeom>
          <a:solidFill>
            <a:srgbClr val="1C2233"/>
          </a:solidFill>
          <a:ln w="15240">
            <a:solidFill>
              <a:srgbClr val="F97316"/>
            </a:solidFill>
            <a:prstDash val="solid"/>
          </a:ln>
          <a:effectLst>
            <a:outerShdw blurRad="101600" dist="38100" dir="8100000" algn="bl" rotWithShape="0">
              <a:srgbClr val="000000">
                <a:alpha val="25000"/>
              </a:srgbClr>
            </a:outerShdw>
          </a:effectLst>
        </p:spPr>
      </p:sp>
      <p:sp>
        <p:nvSpPr>
          <p:cNvPr id="7" name="Shape 5"/>
          <p:cNvSpPr/>
          <p:nvPr/>
        </p:nvSpPr>
        <p:spPr>
          <a:xfrm>
            <a:off x="274320" y="1261872"/>
            <a:ext cx="4270248" cy="274320"/>
          </a:xfrm>
          <a:prstGeom prst="rect">
            <a:avLst/>
          </a:prstGeom>
          <a:solidFill>
            <a:srgbClr val="F97316"/>
          </a:solidFill>
          <a:ln w="12700">
            <a:solidFill>
              <a:srgbClr val="F97316"/>
            </a:solidFill>
            <a:prstDash val="solid"/>
          </a:ln>
        </p:spPr>
      </p:sp>
      <p:sp>
        <p:nvSpPr>
          <p:cNvPr id="8" name="Text 6"/>
          <p:cNvSpPr/>
          <p:nvPr/>
        </p:nvSpPr>
        <p:spPr>
          <a:xfrm>
            <a:off x="347472" y="1261872"/>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Real-Time Joint Dragging</a:t>
            </a:r>
            <a:endParaRPr lang="en-US" sz="1200" dirty="0"/>
          </a:p>
        </p:txBody>
      </p:sp>
      <p:sp>
        <p:nvSpPr>
          <p:cNvPr id="9" name="Text 7"/>
          <p:cNvSpPr/>
          <p:nvPr/>
        </p:nvSpPr>
        <p:spPr>
          <a:xfrm>
            <a:off x="365760" y="1581912"/>
            <a:ext cx="4114800" cy="1371600"/>
          </a:xfrm>
          <a:prstGeom prst="rect">
            <a:avLst/>
          </a:prstGeom>
          <a:noFill/>
          <a:ln/>
        </p:spPr>
        <p:txBody>
          <a:bodyPr wrap="square" rtlCol="0" anchor="ctr"/>
          <a:lstStyle/>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Drag any joint — not just the end-effector</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Rest of the chain adjusts in real time using IK</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Reveals how the chain adapts to mid-chain constraints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Demonstrates degrees of freedom intuitively</a:t>
            </a:r>
            <a:endParaRPr lang="en-US" sz="1100" dirty="0"/>
          </a:p>
        </p:txBody>
      </p:sp>
      <p:sp>
        <p:nvSpPr>
          <p:cNvPr id="10" name="Shape 8"/>
          <p:cNvSpPr/>
          <p:nvPr/>
        </p:nvSpPr>
        <p:spPr>
          <a:xfrm>
            <a:off x="4727448" y="1261872"/>
            <a:ext cx="4270248" cy="1755648"/>
          </a:xfrm>
          <a:prstGeom prst="rect">
            <a:avLst/>
          </a:prstGeom>
          <a:solidFill>
            <a:srgbClr val="1C2233"/>
          </a:solidFill>
          <a:ln w="15240">
            <a:solidFill>
              <a:srgbClr val="3B82F6"/>
            </a:solidFill>
            <a:prstDash val="solid"/>
          </a:ln>
          <a:effectLst>
            <a:outerShdw blurRad="101600" dist="38100" dir="8100000" algn="bl" rotWithShape="0">
              <a:srgbClr val="000000">
                <a:alpha val="25000"/>
              </a:srgbClr>
            </a:outerShdw>
          </a:effectLst>
        </p:spPr>
      </p:sp>
      <p:sp>
        <p:nvSpPr>
          <p:cNvPr id="11" name="Shape 9"/>
          <p:cNvSpPr/>
          <p:nvPr/>
        </p:nvSpPr>
        <p:spPr>
          <a:xfrm>
            <a:off x="4727448" y="1261872"/>
            <a:ext cx="4270248" cy="274320"/>
          </a:xfrm>
          <a:prstGeom prst="rect">
            <a:avLst/>
          </a:prstGeom>
          <a:solidFill>
            <a:srgbClr val="3B82F6"/>
          </a:solidFill>
          <a:ln w="12700">
            <a:solidFill>
              <a:srgbClr val="3B82F6"/>
            </a:solidFill>
            <a:prstDash val="solid"/>
          </a:ln>
        </p:spPr>
      </p:sp>
      <p:sp>
        <p:nvSpPr>
          <p:cNvPr id="12" name="Text 10"/>
          <p:cNvSpPr/>
          <p:nvPr/>
        </p:nvSpPr>
        <p:spPr>
          <a:xfrm>
            <a:off x="4800600" y="1261872"/>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Joint Pinning / Locking</a:t>
            </a:r>
            <a:endParaRPr lang="en-US" sz="1200" dirty="0"/>
          </a:p>
        </p:txBody>
      </p:sp>
      <p:sp>
        <p:nvSpPr>
          <p:cNvPr id="13" name="Text 11"/>
          <p:cNvSpPr/>
          <p:nvPr/>
        </p:nvSpPr>
        <p:spPr>
          <a:xfrm>
            <a:off x="4818888" y="1581912"/>
            <a:ext cx="4114800" cy="1371600"/>
          </a:xfrm>
          <a:prstGeom prst="rect">
            <a:avLst/>
          </a:prstGeom>
          <a:noFill/>
          <a:ln/>
        </p:spPr>
        <p:txBody>
          <a:bodyPr wrap="square" rtlCol="0" anchor="ctr"/>
          <a:lstStyle/>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Right-click any joint to pin it in place</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Locked joints become fixed constraints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Algorithm must route around pinned joints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Simulates real robot joint locks and limits</a:t>
            </a:r>
            <a:endParaRPr lang="en-US" sz="1100" dirty="0"/>
          </a:p>
        </p:txBody>
      </p:sp>
      <p:sp>
        <p:nvSpPr>
          <p:cNvPr id="14" name="Shape 12"/>
          <p:cNvSpPr/>
          <p:nvPr/>
        </p:nvSpPr>
        <p:spPr>
          <a:xfrm>
            <a:off x="274320" y="3136392"/>
            <a:ext cx="4270248" cy="1755648"/>
          </a:xfrm>
          <a:prstGeom prst="rect">
            <a:avLst/>
          </a:prstGeom>
          <a:solidFill>
            <a:srgbClr val="1C2233"/>
          </a:solidFill>
          <a:ln w="15240">
            <a:solidFill>
              <a:srgbClr val="10B981"/>
            </a:solidFill>
            <a:prstDash val="solid"/>
          </a:ln>
          <a:effectLst>
            <a:outerShdw blurRad="101600" dist="38100" dir="8100000" algn="bl" rotWithShape="0">
              <a:srgbClr val="000000">
                <a:alpha val="25000"/>
              </a:srgbClr>
            </a:outerShdw>
          </a:effectLst>
        </p:spPr>
      </p:sp>
      <p:sp>
        <p:nvSpPr>
          <p:cNvPr id="15" name="Shape 13"/>
          <p:cNvSpPr/>
          <p:nvPr/>
        </p:nvSpPr>
        <p:spPr>
          <a:xfrm>
            <a:off x="274320" y="3136392"/>
            <a:ext cx="4270248" cy="274320"/>
          </a:xfrm>
          <a:prstGeom prst="rect">
            <a:avLst/>
          </a:prstGeom>
          <a:solidFill>
            <a:srgbClr val="10B981"/>
          </a:solidFill>
          <a:ln w="12700">
            <a:solidFill>
              <a:srgbClr val="10B981"/>
            </a:solidFill>
            <a:prstDash val="solid"/>
          </a:ln>
        </p:spPr>
      </p:sp>
      <p:sp>
        <p:nvSpPr>
          <p:cNvPr id="16" name="Text 14"/>
          <p:cNvSpPr/>
          <p:nvPr/>
        </p:nvSpPr>
        <p:spPr>
          <a:xfrm>
            <a:off x="347472" y="3136392"/>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Algorithm Switching &amp; Comparison</a:t>
            </a:r>
            <a:endParaRPr lang="en-US" sz="1200" dirty="0"/>
          </a:p>
        </p:txBody>
      </p:sp>
      <p:sp>
        <p:nvSpPr>
          <p:cNvPr id="17" name="Text 15"/>
          <p:cNvSpPr/>
          <p:nvPr/>
        </p:nvSpPr>
        <p:spPr>
          <a:xfrm>
            <a:off x="365760" y="3456432"/>
            <a:ext cx="4114800" cy="1371600"/>
          </a:xfrm>
          <a:prstGeom prst="rect">
            <a:avLst/>
          </a:prstGeom>
          <a:noFill/>
          <a:ln/>
        </p:spPr>
        <p:txBody>
          <a:bodyPr wrap="square" rtlCol="0" anchor="ctr"/>
          <a:lstStyle/>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Single click to switch between all algorithms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Observe same arm, same target, different paths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Live display of iteration count and error</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Step-through mode: advance one iteration at a time</a:t>
            </a:r>
            <a:endParaRPr lang="en-US" sz="1100" dirty="0"/>
          </a:p>
        </p:txBody>
      </p:sp>
      <p:sp>
        <p:nvSpPr>
          <p:cNvPr id="18" name="Shape 16"/>
          <p:cNvSpPr/>
          <p:nvPr/>
        </p:nvSpPr>
        <p:spPr>
          <a:xfrm>
            <a:off x="4727448" y="3136392"/>
            <a:ext cx="4270248" cy="1755648"/>
          </a:xfrm>
          <a:prstGeom prst="rect">
            <a:avLst/>
          </a:prstGeom>
          <a:solidFill>
            <a:srgbClr val="1C2233"/>
          </a:solidFill>
          <a:ln w="15240">
            <a:solidFill>
              <a:srgbClr val="A855F7"/>
            </a:solidFill>
            <a:prstDash val="solid"/>
          </a:ln>
          <a:effectLst>
            <a:outerShdw blurRad="101600" dist="38100" dir="8100000" algn="bl" rotWithShape="0">
              <a:srgbClr val="000000">
                <a:alpha val="25000"/>
              </a:srgbClr>
            </a:outerShdw>
          </a:effectLst>
        </p:spPr>
      </p:sp>
      <p:sp>
        <p:nvSpPr>
          <p:cNvPr id="19" name="Shape 17"/>
          <p:cNvSpPr/>
          <p:nvPr/>
        </p:nvSpPr>
        <p:spPr>
          <a:xfrm>
            <a:off x="4727448" y="3136392"/>
            <a:ext cx="4270248" cy="274320"/>
          </a:xfrm>
          <a:prstGeom prst="rect">
            <a:avLst/>
          </a:prstGeom>
          <a:solidFill>
            <a:srgbClr val="A855F7"/>
          </a:solidFill>
          <a:ln w="12700">
            <a:solidFill>
              <a:srgbClr val="A855F7"/>
            </a:solidFill>
            <a:prstDash val="solid"/>
          </a:ln>
        </p:spPr>
      </p:sp>
      <p:sp>
        <p:nvSpPr>
          <p:cNvPr id="20" name="Text 18"/>
          <p:cNvSpPr/>
          <p:nvPr/>
        </p:nvSpPr>
        <p:spPr>
          <a:xfrm>
            <a:off x="4800600" y="3136392"/>
            <a:ext cx="411480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Animation &amp; Playback Controls</a:t>
            </a:r>
            <a:endParaRPr lang="en-US" sz="1200" dirty="0"/>
          </a:p>
        </p:txBody>
      </p:sp>
      <p:sp>
        <p:nvSpPr>
          <p:cNvPr id="21" name="Text 19"/>
          <p:cNvSpPr/>
          <p:nvPr/>
        </p:nvSpPr>
        <p:spPr>
          <a:xfrm>
            <a:off x="4818888" y="3456432"/>
            <a:ext cx="4114800" cy="1371600"/>
          </a:xfrm>
          <a:prstGeom prst="rect">
            <a:avLst/>
          </a:prstGeom>
          <a:noFill/>
          <a:ln/>
        </p:spPr>
        <p:txBody>
          <a:bodyPr wrap="square" rtlCol="0" anchor="ctr"/>
          <a:lstStyle/>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Play / Pause / Step buttons for convergence animation</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Adjustable animation speed slider</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Joint count and link length sliders</a:t>
            </a:r>
            <a:endParaRPr lang="en-US" sz="1100" dirty="0"/>
          </a:p>
          <a:p>
            <a:pPr marL="342900" indent="-342900">
              <a:buSzPct val="100000"/>
              <a:buChar char="•"/>
            </a:pPr>
            <a:r>
              <a:rPr lang="en-US" sz="1100" dirty="0">
                <a:solidFill>
                  <a:srgbClr val="CBD5E1"/>
                </a:solidFill>
                <a:latin typeface="Trebuchet MS" pitchFamily="34" charset="0"/>
                <a:ea typeface="Trebuchet MS" pitchFamily="34" charset="-122"/>
                <a:cs typeface="Trebuchet MS" pitchFamily="34" charset="-120"/>
              </a:rPr>
              <a:t>Click-to-set target anywhere in the workspace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0F1A"/>
        </a:solidFill>
        <a:effectLst/>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F97316"/>
          </a:solidFill>
          <a:ln w="12700">
            <a:solidFill>
              <a:srgbClr val="F97316"/>
            </a:solidFill>
            <a:prstDash val="solid"/>
          </a:ln>
        </p:spPr>
      </p:sp>
      <p:pic>
        <p:nvPicPr>
          <p:cNvPr id="3" name="Image 0" descr="/home/claude/robot_3d.jpg"/>
          <p:cNvPicPr>
            <a:picLocks noChangeAspect="1"/>
          </p:cNvPicPr>
          <p:nvPr/>
        </p:nvPicPr>
        <p:blipFill>
          <a:blip r:embed="rId3">
            <a:alphaModFix amt="65000"/>
          </a:blip>
          <a:srcRect/>
          <a:stretch/>
        </p:blipFill>
        <p:spPr>
          <a:xfrm>
            <a:off x="5120640" y="0"/>
            <a:ext cx="4023360" cy="5143500"/>
          </a:xfrm>
          <a:prstGeom prst="rect">
            <a:avLst/>
          </a:prstGeom>
        </p:spPr>
      </p:pic>
      <p:sp>
        <p:nvSpPr>
          <p:cNvPr id="4" name="Shape 1"/>
          <p:cNvSpPr/>
          <p:nvPr/>
        </p:nvSpPr>
        <p:spPr>
          <a:xfrm>
            <a:off x="5120640" y="0"/>
            <a:ext cx="4023360" cy="5143500"/>
          </a:xfrm>
          <a:prstGeom prst="rect">
            <a:avLst/>
          </a:prstGeom>
          <a:solidFill>
            <a:srgbClr val="0D0F1A">
              <a:alpha val="75000"/>
            </a:srgbClr>
          </a:solidFill>
          <a:ln w="12700">
            <a:solidFill>
              <a:srgbClr val="0D0F1A"/>
            </a:solidFill>
            <a:prstDash val="solid"/>
          </a:ln>
        </p:spPr>
      </p:sp>
      <p:sp>
        <p:nvSpPr>
          <p:cNvPr id="5" name="Text 2"/>
          <p:cNvSpPr/>
          <p:nvPr/>
        </p:nvSpPr>
        <p:spPr>
          <a:xfrm>
            <a:off x="640080" y="457200"/>
            <a:ext cx="4754880" cy="1097280"/>
          </a:xfrm>
          <a:prstGeom prst="rect">
            <a:avLst/>
          </a:prstGeom>
          <a:noFill/>
          <a:ln/>
        </p:spPr>
        <p:txBody>
          <a:bodyPr wrap="square" lIns="0" tIns="0" rIns="0" bIns="0" rtlCol="0" anchor="ctr"/>
          <a:lstStyle/>
          <a:p>
            <a:pPr marL="0" indent="0">
              <a:buNone/>
            </a:pPr>
            <a:r>
              <a:rPr lang="en-US" sz="3800" b="1" dirty="0">
                <a:solidFill>
                  <a:srgbClr val="FFFFFF"/>
                </a:solidFill>
                <a:latin typeface="Trebuchet MS" pitchFamily="34" charset="0"/>
                <a:ea typeface="Trebuchet MS" pitchFamily="34" charset="-122"/>
                <a:cs typeface="Trebuchet MS" pitchFamily="34" charset="-120"/>
              </a:rPr>
              <a:t>Conclusion &amp;</a:t>
            </a:r>
            <a:endParaRPr lang="en-US" sz="3800" dirty="0"/>
          </a:p>
          <a:p>
            <a:pPr marL="0" indent="0">
              <a:buNone/>
            </a:pPr>
            <a:r>
              <a:rPr lang="en-US" sz="3800" b="1" dirty="0">
                <a:solidFill>
                  <a:srgbClr val="FFFFFF"/>
                </a:solidFill>
                <a:latin typeface="Trebuchet MS" pitchFamily="34" charset="0"/>
                <a:ea typeface="Trebuchet MS" pitchFamily="34" charset="-122"/>
                <a:cs typeface="Trebuchet MS" pitchFamily="34" charset="-120"/>
              </a:rPr>
              <a:t>Next Steps</a:t>
            </a:r>
            <a:endParaRPr lang="en-US" sz="3800" dirty="0"/>
          </a:p>
        </p:txBody>
      </p:sp>
      <p:sp>
        <p:nvSpPr>
          <p:cNvPr id="6" name="Shape 3"/>
          <p:cNvSpPr/>
          <p:nvPr/>
        </p:nvSpPr>
        <p:spPr>
          <a:xfrm>
            <a:off x="640080" y="1664208"/>
            <a:ext cx="1005840" cy="502920"/>
          </a:xfrm>
          <a:prstGeom prst="rect">
            <a:avLst/>
          </a:prstGeom>
          <a:solidFill>
            <a:srgbClr val="F97316"/>
          </a:solidFill>
          <a:ln w="12700">
            <a:solidFill>
              <a:srgbClr val="F97316"/>
            </a:solidFill>
            <a:prstDash val="solid"/>
          </a:ln>
        </p:spPr>
      </p:sp>
      <p:sp>
        <p:nvSpPr>
          <p:cNvPr id="7" name="Text 4"/>
          <p:cNvSpPr/>
          <p:nvPr/>
        </p:nvSpPr>
        <p:spPr>
          <a:xfrm>
            <a:off x="640080" y="1664208"/>
            <a:ext cx="10058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Problem</a:t>
            </a:r>
            <a:endParaRPr lang="en-US" sz="1000" dirty="0"/>
          </a:p>
        </p:txBody>
      </p:sp>
      <p:sp>
        <p:nvSpPr>
          <p:cNvPr id="8" name="Text 5"/>
          <p:cNvSpPr/>
          <p:nvPr/>
        </p:nvSpPr>
        <p:spPr>
          <a:xfrm>
            <a:off x="1737360" y="1719072"/>
            <a:ext cx="3291840" cy="41148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IK is a black box for students and developers — no interactive tool exists.</a:t>
            </a:r>
            <a:endParaRPr lang="en-US" sz="1100" dirty="0"/>
          </a:p>
        </p:txBody>
      </p:sp>
      <p:sp>
        <p:nvSpPr>
          <p:cNvPr id="9" name="Shape 6"/>
          <p:cNvSpPr/>
          <p:nvPr/>
        </p:nvSpPr>
        <p:spPr>
          <a:xfrm>
            <a:off x="640080" y="2414016"/>
            <a:ext cx="1005840" cy="502920"/>
          </a:xfrm>
          <a:prstGeom prst="rect">
            <a:avLst/>
          </a:prstGeom>
          <a:solidFill>
            <a:srgbClr val="F97316"/>
          </a:solidFill>
          <a:ln w="12700">
            <a:solidFill>
              <a:srgbClr val="F97316"/>
            </a:solidFill>
            <a:prstDash val="solid"/>
          </a:ln>
        </p:spPr>
      </p:sp>
      <p:sp>
        <p:nvSpPr>
          <p:cNvPr id="10" name="Text 7"/>
          <p:cNvSpPr/>
          <p:nvPr/>
        </p:nvSpPr>
        <p:spPr>
          <a:xfrm>
            <a:off x="640080" y="2414016"/>
            <a:ext cx="10058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Research</a:t>
            </a:r>
            <a:endParaRPr lang="en-US" sz="1000" dirty="0"/>
          </a:p>
        </p:txBody>
      </p:sp>
      <p:sp>
        <p:nvSpPr>
          <p:cNvPr id="11" name="Text 8"/>
          <p:cNvSpPr/>
          <p:nvPr/>
        </p:nvSpPr>
        <p:spPr>
          <a:xfrm>
            <a:off x="1737360" y="2468880"/>
            <a:ext cx="3291840" cy="41148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Identified 3 Jacobian methods + 2 heuristic algorithms covering the full solution space.</a:t>
            </a:r>
            <a:endParaRPr lang="en-US" sz="1100" dirty="0"/>
          </a:p>
        </p:txBody>
      </p:sp>
      <p:sp>
        <p:nvSpPr>
          <p:cNvPr id="12" name="Shape 9"/>
          <p:cNvSpPr/>
          <p:nvPr/>
        </p:nvSpPr>
        <p:spPr>
          <a:xfrm>
            <a:off x="640080" y="3163824"/>
            <a:ext cx="1005840" cy="502920"/>
          </a:xfrm>
          <a:prstGeom prst="rect">
            <a:avLst/>
          </a:prstGeom>
          <a:solidFill>
            <a:srgbClr val="F97316"/>
          </a:solidFill>
          <a:ln w="12700">
            <a:solidFill>
              <a:srgbClr val="F97316"/>
            </a:solidFill>
            <a:prstDash val="solid"/>
          </a:ln>
        </p:spPr>
      </p:sp>
      <p:sp>
        <p:nvSpPr>
          <p:cNvPr id="13" name="Text 10"/>
          <p:cNvSpPr/>
          <p:nvPr/>
        </p:nvSpPr>
        <p:spPr>
          <a:xfrm>
            <a:off x="640080" y="3163824"/>
            <a:ext cx="10058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Architecture</a:t>
            </a:r>
            <a:endParaRPr lang="en-US" sz="1000" dirty="0"/>
          </a:p>
        </p:txBody>
      </p:sp>
      <p:sp>
        <p:nvSpPr>
          <p:cNvPr id="14" name="Text 11"/>
          <p:cNvSpPr/>
          <p:nvPr/>
        </p:nvSpPr>
        <p:spPr>
          <a:xfrm>
            <a:off x="1737360" y="3218688"/>
            <a:ext cx="3291840" cy="41148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4-module Python system: Model, Engine, Renderer, UI — clean data flow.</a:t>
            </a:r>
            <a:endParaRPr lang="en-US" sz="1100" dirty="0"/>
          </a:p>
        </p:txBody>
      </p:sp>
      <p:sp>
        <p:nvSpPr>
          <p:cNvPr id="15" name="Shape 12"/>
          <p:cNvSpPr/>
          <p:nvPr/>
        </p:nvSpPr>
        <p:spPr>
          <a:xfrm>
            <a:off x="640080" y="3913632"/>
            <a:ext cx="1005840" cy="502920"/>
          </a:xfrm>
          <a:prstGeom prst="rect">
            <a:avLst/>
          </a:prstGeom>
          <a:solidFill>
            <a:srgbClr val="F97316"/>
          </a:solidFill>
          <a:ln w="12700">
            <a:solidFill>
              <a:srgbClr val="F97316"/>
            </a:solidFill>
            <a:prstDash val="solid"/>
          </a:ln>
        </p:spPr>
      </p:sp>
      <p:sp>
        <p:nvSpPr>
          <p:cNvPr id="16" name="Text 13"/>
          <p:cNvSpPr/>
          <p:nvPr/>
        </p:nvSpPr>
        <p:spPr>
          <a:xfrm>
            <a:off x="640080" y="3913632"/>
            <a:ext cx="1005840" cy="50292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Innovation</a:t>
            </a:r>
            <a:endParaRPr lang="en-US" sz="1000" dirty="0"/>
          </a:p>
        </p:txBody>
      </p:sp>
      <p:sp>
        <p:nvSpPr>
          <p:cNvPr id="17" name="Text 14"/>
          <p:cNvSpPr/>
          <p:nvPr/>
        </p:nvSpPr>
        <p:spPr>
          <a:xfrm>
            <a:off x="1737360" y="3968496"/>
            <a:ext cx="3291840" cy="411480"/>
          </a:xfrm>
          <a:prstGeom prst="rect">
            <a:avLst/>
          </a:prstGeom>
          <a:noFill/>
          <a:ln/>
        </p:spPr>
        <p:txBody>
          <a:bodyPr wrap="square" lIns="0" tIns="0" rIns="0" bIns="0" rtlCol="0" anchor="ctr"/>
          <a:lstStyle/>
          <a:p>
            <a:pPr marL="0" indent="0">
              <a:buNone/>
            </a:pPr>
            <a:r>
              <a:rPr lang="en-US" sz="1100" dirty="0">
                <a:solidFill>
                  <a:srgbClr val="CBD5E1"/>
                </a:solidFill>
                <a:latin typeface="Trebuchet MS" pitchFamily="34" charset="0"/>
                <a:ea typeface="Trebuchet MS" pitchFamily="34" charset="-122"/>
                <a:cs typeface="Trebuchet MS" pitchFamily="34" charset="-120"/>
              </a:rPr>
              <a:t>Mid-chain dragging + joint pinning go beyond any existing IK demo tool.</a:t>
            </a:r>
            <a:endParaRPr lang="en-US" sz="1100" dirty="0"/>
          </a:p>
        </p:txBody>
      </p:sp>
      <p:sp>
        <p:nvSpPr>
          <p:cNvPr id="18" name="Text 15"/>
          <p:cNvSpPr/>
          <p:nvPr/>
        </p:nvSpPr>
        <p:spPr>
          <a:xfrm>
            <a:off x="640080" y="4663440"/>
            <a:ext cx="1097280" cy="228600"/>
          </a:xfrm>
          <a:prstGeom prst="rect">
            <a:avLst/>
          </a:prstGeom>
          <a:noFill/>
          <a:ln/>
        </p:spPr>
        <p:txBody>
          <a:bodyPr wrap="square" lIns="0" tIns="0" rIns="0" bIns="0" rtlCol="0" anchor="ctr"/>
          <a:lstStyle/>
          <a:p>
            <a:pPr marL="0" indent="0">
              <a:buNone/>
            </a:pPr>
            <a:r>
              <a:rPr lang="en-US" sz="1200" b="1" dirty="0">
                <a:solidFill>
                  <a:srgbClr val="10B981"/>
                </a:solidFill>
                <a:latin typeface="Trebuchet MS" pitchFamily="34" charset="0"/>
                <a:ea typeface="Trebuchet MS" pitchFamily="34" charset="-122"/>
                <a:cs typeface="Trebuchet MS" pitchFamily="34" charset="-120"/>
              </a:rPr>
              <a:t>Next Steps</a:t>
            </a:r>
            <a:endParaRPr lang="en-US" sz="1200" dirty="0"/>
          </a:p>
        </p:txBody>
      </p:sp>
      <p:sp>
        <p:nvSpPr>
          <p:cNvPr id="19" name="Text 16"/>
          <p:cNvSpPr/>
          <p:nvPr/>
        </p:nvSpPr>
        <p:spPr>
          <a:xfrm>
            <a:off x="1783080" y="4681728"/>
            <a:ext cx="3291840" cy="228600"/>
          </a:xfrm>
          <a:prstGeom prst="rect">
            <a:avLst/>
          </a:prstGeom>
          <a:noFill/>
          <a:ln/>
        </p:spPr>
        <p:txBody>
          <a:bodyPr wrap="square" lIns="0" tIns="0" rIns="0" bIns="0" rtlCol="0" anchor="ctr"/>
          <a:lstStyle/>
          <a:p>
            <a:pPr marL="0" indent="0">
              <a:buNone/>
            </a:pPr>
            <a:r>
              <a:rPr lang="en-US" sz="1000" dirty="0">
                <a:solidFill>
                  <a:srgbClr val="64748B"/>
                </a:solidFill>
                <a:latin typeface="Trebuchet MS" pitchFamily="34" charset="0"/>
                <a:ea typeface="Trebuchet MS" pitchFamily="34" charset="-122"/>
                <a:cs typeface="Trebuchet MS" pitchFamily="34" charset="-120"/>
              </a:rPr>
              <a:t>Build kinematic chain model  →  Integrate FABRIK (done)  →  Add CCD &amp; Jacobian  →  Build renderer  →  Add UI  →  Polish &amp; test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Interactive IK Algorithms Visualizer</dc:title>
  <dc:subject>PptxGenJS Presentation</dc:subject>
  <dc:creator>PptxGenJS</dc:creator>
  <cp:lastModifiedBy>PptxGenJS</cp:lastModifiedBy>
  <cp:revision>12</cp:revision>
  <dcterms:created xsi:type="dcterms:W3CDTF">2026-04-09T20:14:04Z</dcterms:created>
  <dcterms:modified xsi:type="dcterms:W3CDTF">2026-04-13T09:34:40Z</dcterms:modified>
</cp:coreProperties>
</file>